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Anuj. Time: 20 seconds.</a:t>
            </a:r>
          </a:p>
          <a:p>
            <a:r>
              <a:t>Introduce both students, roll numbers, institute and laboratory. Describe the application as a placement preparation companion.</a:t>
            </a:r>
          </a:p>
          <a:p>
            <a:r>
              <a:t>Timing: slide discussion totals 7 minutes, followed by a 3-minute live demo. Individual viva is a separate 5-minute component.</a:t>
            </a:r>
          </a:p>
          <a:p>
            <a:r>
              <a:t>Logo: unaltered official NIT Tiruchirappalli emblem downloaded from https://www.nitt.edu/home/about/High-Resolution-Emblem.png; source page https://www.nitt.edu/home/about/. No endorsement is implied.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Anuj. Time: 35 seconds.</a:t>
            </a:r>
          </a:p>
          <a:p>
            <a:r>
              <a:t>Explain the practical difficulty of switching between schedules, notes and company resources. The project aims to make preparation manageable through a single mobile workflow. Avoid claiming measured academic or placement improvements; no user study has been conducted.</a:t>
            </a:r>
          </a:p>
          <a:p>
            <a:r>
              <a:t>Viva prompt: Why is local persistence useful in a student preparation app?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Anuj. Time: 30 seconds.</a:t>
            </a:r>
          </a:p>
          <a:p>
            <a:r>
              <a:t>Primary users are students preparing for campus placements; placement cells and training groups are possible distribution partners. The proposal is to organize preparation alongside existing coding-practice and recruitment platforms.</a:t>
            </a:r>
          </a:p>
          <a:p>
            <a:r>
              <a:t>Evidence: AICTE NEAT describes EdTech support for employability skills, capacity building and learning gaps: https://neateoi.aicte-india.org/. NIT Trichy Training and Placement describes placement coordination and individual career-interest counselling: https://www.nitt.edu/home/academics/departments/tp/.</a:t>
            </a:r>
          </a:p>
          <a:p>
            <a:r>
              <a:t>Inference: these activities provide a plausible setting for a preparation companion. They do not demonstrate adoption of this app, willingness to pay, market size or improved placement outcomes. Target users and channels are proposed; no market survey or traction data is available.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Anuj. Time: 30 seconds.</a:t>
            </a:r>
          </a:p>
          <a:p>
            <a:r>
              <a:t>The business hypothesis connects student value to repeated use: a daily planning routine, retained notes and personalized help. Student groups and placement cells are proposed pilot channels, not existing partnerships.</a:t>
            </a:r>
          </a:p>
          <a:p>
            <a:r>
              <a:t>Potential sustainability options are a free core planner, usage-limited premium AI features, and institutional subscriptions. Billing, subscription limits and institutional dashboards are not in the current app. Pricing and willingness to pay need validation.</a:t>
            </a:r>
          </a:p>
          <a:p>
            <a:r>
              <a:t>Cost drivers would include AI requests, future backend/cloud services, content maintenance and support. Proposed pilot measures: activation after onboarding, weekly retention, completed tasks, feedback quality and API cost per active user. No revenue, adoption, retention or conversion figures have been measured.</a:t>
            </a:r>
          </a:p>
          <a:p>
            <a:r>
              <a:t>Viva prompt: How would you test whether the product is useful before introducing a paid tier?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Anuj. Time: 35 seconds.</a:t>
            </a:r>
          </a:p>
          <a:p>
            <a:r>
              <a:t>Explain how onboarding establishes preferences, the planner supports daily work, company content guides preparation and AI supplies personalized assistance. Notes/resources/bookmarks remain part of the same preparation workflow.</a:t>
            </a:r>
          </a:p>
          <a:p>
            <a:r>
              <a:t>Bottom tabs: Home, Planner, Companies, Resources and Profile. Secondary destinations include AI Planner, Notes, Calendar, PYQs, Experiences, Search, Doubt Assistant and Mock Interview.</a:t>
            </a:r>
          </a:p>
          <a:p>
            <a:r>
              <a:t>Dashboard contains sample recommendation/progress data; do not describe all metrics as dynamically computed. Company/PYQ seed material is demonstration content, not a verified current recruiting dataset.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Kratish. Time: 40 seconds.</a:t>
            </a:r>
          </a:p>
          <a:p>
            <a:r>
              <a:t>Explain the role of each layer rather than only listing library names. Kotlin is the implementation language; Android Studio and Gradle support development and builds. Compose/Material 3 render screens, Navigation manages routes. ViewModels expose StateFlow and use coroutines for database/API work. Room stores structured entities through the DAO, while DataStore stores smaller preference flags. Retrofit defines HTTP calls, OkHttp transports them and Gson converts JSON models; Groq supplies AI replies and plans. Compose UI tests and AndroidJUnit4 are used for instrumentation checks.</a:t>
            </a:r>
          </a:p>
          <a:p>
            <a:r>
              <a:t>Verified against app/build.gradle.kts, gradle/libs.versions.toml and source: Kotlin 2.2.10, Room 2.8.4, min SDK 26, compile/target SDK 35, JVM target 17. Configured Groq model: openai/gpt-oss-120b. WorkManager is a declared dependency with reminder helpers, but end-to-end scheduling has not been verified; do not present full reminders as established functionality.</a:t>
            </a:r>
          </a:p>
          <a:p>
            <a:r>
              <a:t>Viva prompt: Explain the distinction between Room and DataStore, Retrofit and OkHttp, or ViewModel and Repository.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Kratish. Time: 40 seconds.</a:t>
            </a:r>
          </a:p>
          <a:p>
            <a:r>
              <a:t>MVVM separates Compose screens from state and data operations. ViewModels expose StateFlow, launch coroutines and use repositories; UI observes changes. Room provides local structured data and DataStore stores preferences/onboarding flags. Retrofit/OkHttp/Gson handle remote HTTP and JSON.</a:t>
            </a:r>
          </a:p>
          <a:p>
            <a:r>
              <a:t>Implementation: Kotlin 2.2.10, Room 2.8.4, compile/target SDK 35, min SDK 26; only mention versions if asked.</a:t>
            </a:r>
          </a:p>
          <a:p>
            <a:r>
              <a:t>Viva prompts: What does a ViewModel preserve? Why use a coroutine? How does StateFlow update a Compose screen? Where are navigation routes defined?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Kratish. Time: 40 seconds.</a:t>
            </a:r>
          </a:p>
          <a:p>
            <a:r>
              <a:t>The Groq OpenAI-compatible endpoint is https://api.groq.com/openai/v1/chat/completions and the configured model is openai/gpt-oss-120b. The repository supports askDoubt, generateStudyPlan and mockInterviewFeedback. Do not display any API credential.</a:t>
            </a:r>
          </a:p>
          <a:p>
            <a:r>
              <a:t>The plan request expects JSON and Gson parses it. convertAiPlanToTasks inserts tasks into Room; DAO Flow then refreshes the planner. The current conversion assigns sequential dates and a fixed time slot; improved mapping of AI day numbers and durations is future work.</a:t>
            </a:r>
          </a:p>
          <a:p>
            <a:r>
              <a:t>Room database: placement_companion_db. DataStore: onboarding completion, target company and theme preference flags.</a:t>
            </a:r>
          </a:p>
          <a:p>
            <a:r>
              <a:t>Viva prompts: What is an entity vs DAO? Where is a task inserted? What happens when the API returns an error?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Anuj. Time: 30 seconds.</a:t>
            </a:r>
          </a:p>
          <a:p>
            <a:r>
              <a:t>These are real screenshots captured from the project APK on Medium_Phone_API_37.0. Identify the common bottom navigation, dashboard quick actions, planner controls, returned AI roadmap and company search/filter UI. The planner includes a freshly added demo task and seed records; the dashboard recommendation includes sample content.</a:t>
            </a:r>
          </a:p>
          <a:p>
            <a:r>
              <a:t>During the demo, create a fresh task using the actual demonstration date rather than relying on seed dates. The AI result shown is an actual Groq response.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Kratish. Time: 40 seconds.</a:t>
            </a:r>
          </a:p>
          <a:p>
            <a:r>
              <a:t>Eight focused instrumentation checks passed during this development session in separate navigation and live API runs. Five Compose tests cover Study shortcut → Home, AI Planner → Home, Planner tab → Home, switching multiple tabs and preserving Planner state. Three Groq repository tests check an exact assistant reply, valid plan fields/nonempty tasks and nonempty interview feedback. The retained latest XML report has 3 tests, 0 failures, 0 errors, 0 skipped. This is targeted verification, not exhaustive testing of all modules.</a:t>
            </a:r>
          </a:p>
          <a:p>
            <a:r>
              <a:t>Build fixes: add Kotlin Android plugin, align Kotlin 2.2.10 / Room 2.8.4. API fix: replace unavailable model and expose readable HTTP errors. Navigation fix: Home must not restore a saved stack that ends on Planner; preserve other tab state.</a:t>
            </a:r>
          </a:p>
          <a:p>
            <a:r>
              <a:t>Validation: task title must be nonblank; blank AI doubt/interview answers are skipped. Numeric AI fields have fallback defaults, but strict range/date validation still needs improvement.</a:t>
            </a:r>
          </a:p>
          <a:p>
            <a:r>
              <a:t>Viva prompts: Explain the navigation bug. What is restoreState? Why test the repository with a real API?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Presenters: both. Time: 35 seconds.</a:t>
            </a:r>
          </a:p>
          <a:p>
            <a:r>
              <a:t>IMPORTANT: the actual division of work was not provided. The assignments on this slide are suggested, not verified claims of authorship. Replace them with the students’ real work before submission. Both students must understand the entire application and attend individual viva.</a:t>
            </a:r>
          </a:p>
          <a:p>
            <a:r>
              <a:t>Suggested speaking division: Anuj covers slides 1-5 and 9; Kratish covers slides 6-8 and 10; both cover slides 11-12 and the demo. Be ready to identify the exact files each student actually implemented or modified.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Presenters: both. Time: 45 seconds.</a:t>
            </a:r>
          </a:p>
          <a:p>
            <a:r>
              <a:t>Summarize the implemented native Android app, local database and live AI integration. Future work addresses strict validation, mapping AI day numbers/durations to a calendar, replacing sample dashboard analytics with actual metrics, secure backend API access, cloud synchronization and stronger reminder integration.</a:t>
            </a:r>
          </a:p>
          <a:p>
            <a:r>
              <a:t>Transition to the 3-minute application demo, then each student attends the individual viva. Do not claim cloud sync, full authentication, exhaustive testing or automatic deadline analytics are already implemented.</a:t>
            </a:r>
          </a:p>
          <a:p>
            <a:r>
              <a:t>Slide timing: 20 + 35 + 30 + 30 + 35 + 40 + 40 + 40 + 30 + 40 + 35 + 45 = 420 seconds (7 minutes). Demo = 180 seconds. Total group presentation/demo = 600 seconds (10 minutes).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neateoi.aicte-india.org/" TargetMode="Externa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nit-trichy-emblem.png"/>
          <p:cNvPicPr>
            <a:picLocks noChangeAspect="1"/>
          </p:cNvPicPr>
          <p:nvPr/>
        </p:nvPicPr>
        <p:blipFill>
          <a:blip r:embed="rId2"/>
          <a:stretch>
            <a:fillRect/>
          </a:stretch>
        </p:blipFill>
        <p:spPr>
          <a:xfrm>
            <a:off x="548640" y="384048"/>
            <a:ext cx="990375" cy="987552"/>
          </a:xfrm>
          <a:prstGeom prst="rect">
            <a:avLst/>
          </a:prstGeom>
        </p:spPr>
      </p:pic>
      <p:sp>
        <p:nvSpPr>
          <p:cNvPr id="4" name="TextBox 3"/>
          <p:cNvSpPr txBox="1"/>
          <p:nvPr/>
        </p:nvSpPr>
        <p:spPr>
          <a:xfrm>
            <a:off x="1783080" y="576072"/>
            <a:ext cx="9784080" cy="320040"/>
          </a:xfrm>
          <a:prstGeom prst="rect">
            <a:avLst/>
          </a:prstGeom>
          <a:noFill/>
        </p:spPr>
        <p:txBody>
          <a:bodyPr wrap="square" lIns="0" rIns="0" tIns="0" bIns="0">
            <a:spAutoFit/>
          </a:bodyPr>
          <a:lstStyle/>
          <a:p>
            <a:pPr algn="l">
              <a:spcAft>
                <a:spcPts val="800"/>
              </a:spcAft>
              <a:defRPr sz="1900" b="1">
                <a:solidFill>
                  <a:srgbClr val="172B46"/>
                </a:solidFill>
                <a:latin typeface="Aptos"/>
              </a:defRPr>
            </a:pPr>
            <a:r>
              <a:t>NATIONAL INSTITUTE OF TECHNOLOGY, TIRUCHIRAPPALLI</a:t>
            </a:r>
          </a:p>
        </p:txBody>
      </p:sp>
      <p:sp>
        <p:nvSpPr>
          <p:cNvPr id="5" name="TextBox 4"/>
          <p:cNvSpPr txBox="1"/>
          <p:nvPr/>
        </p:nvSpPr>
        <p:spPr>
          <a:xfrm>
            <a:off x="1783080" y="969264"/>
            <a:ext cx="9784080" cy="274320"/>
          </a:xfrm>
          <a:prstGeom prst="rect">
            <a:avLst/>
          </a:prstGeom>
          <a:noFill/>
        </p:spPr>
        <p:txBody>
          <a:bodyPr wrap="square" lIns="0" rIns="0" tIns="0" bIns="0">
            <a:spAutoFit/>
          </a:bodyPr>
          <a:lstStyle/>
          <a:p>
            <a:pPr algn="l">
              <a:spcAft>
                <a:spcPts val="800"/>
              </a:spcAft>
              <a:defRPr sz="1400" b="0">
                <a:solidFill>
                  <a:srgbClr val="087F8C"/>
                </a:solidFill>
                <a:latin typeface="Aptos"/>
              </a:defRPr>
            </a:pPr>
            <a:r>
              <a:t>MOBILE APPLICATION DEVELOPMENT LABORATORY</a:t>
            </a:r>
          </a:p>
        </p:txBody>
      </p:sp>
      <p:sp>
        <p:nvSpPr>
          <p:cNvPr id="6" name="TextBox 5"/>
          <p:cNvSpPr txBox="1"/>
          <p:nvPr/>
        </p:nvSpPr>
        <p:spPr>
          <a:xfrm>
            <a:off x="594360" y="1709928"/>
            <a:ext cx="10881360" cy="1737360"/>
          </a:xfrm>
          <a:prstGeom prst="rect">
            <a:avLst/>
          </a:prstGeom>
          <a:noFill/>
        </p:spPr>
        <p:txBody>
          <a:bodyPr wrap="square" lIns="0" rIns="0" tIns="0" bIns="0">
            <a:spAutoFit/>
          </a:bodyPr>
          <a:lstStyle/>
          <a:p>
            <a:pPr algn="l">
              <a:spcAft>
                <a:spcPts val="800"/>
              </a:spcAft>
              <a:defRPr sz="4400" b="1">
                <a:solidFill>
                  <a:srgbClr val="172B46"/>
                </a:solidFill>
                <a:latin typeface="Aptos"/>
              </a:defRPr>
            </a:pPr>
            <a:r>
              <a:t>Placement</a:t>
            </a:r>
          </a:p>
          <a:p>
            <a:pPr algn="l">
              <a:spcAft>
                <a:spcPts val="800"/>
              </a:spcAft>
              <a:defRPr sz="4400" b="1">
                <a:solidFill>
                  <a:srgbClr val="172B46"/>
                </a:solidFill>
                <a:latin typeface="Aptos"/>
              </a:defRPr>
            </a:pPr>
            <a:r>
              <a:t>Companion</a:t>
            </a:r>
          </a:p>
        </p:txBody>
      </p:sp>
      <p:sp>
        <p:nvSpPr>
          <p:cNvPr id="7" name="TextBox 6"/>
          <p:cNvSpPr txBox="1"/>
          <p:nvPr/>
        </p:nvSpPr>
        <p:spPr>
          <a:xfrm>
            <a:off x="621792" y="3566160"/>
            <a:ext cx="10789920" cy="502920"/>
          </a:xfrm>
          <a:prstGeom prst="rect">
            <a:avLst/>
          </a:prstGeom>
          <a:noFill/>
        </p:spPr>
        <p:txBody>
          <a:bodyPr wrap="square" lIns="0" rIns="0" tIns="0" bIns="0">
            <a:spAutoFit/>
          </a:bodyPr>
          <a:lstStyle/>
          <a:p>
            <a:pPr algn="l">
              <a:spcAft>
                <a:spcPts val="800"/>
              </a:spcAft>
              <a:defRPr sz="2200" b="0">
                <a:solidFill>
                  <a:srgbClr val="64778A"/>
                </a:solidFill>
                <a:latin typeface="Aptos"/>
              </a:defRPr>
            </a:pPr>
            <a:r>
              <a:t>An Android app for organized, personalized placement preparation</a:t>
            </a:r>
          </a:p>
        </p:txBody>
      </p:sp>
      <p:sp>
        <p:nvSpPr>
          <p:cNvPr id="8" name="Rounded Rectangle 7"/>
          <p:cNvSpPr/>
          <p:nvPr/>
        </p:nvSpPr>
        <p:spPr>
          <a:xfrm>
            <a:off x="594360" y="4187952"/>
            <a:ext cx="10972800" cy="1261872"/>
          </a:xfrm>
          <a:prstGeom prst="roundRect">
            <a:avLst>
              <a:gd name="adj" fmla="val 12000"/>
            </a:avLst>
          </a:prstGeom>
          <a:solidFill>
            <a:srgbClr val="E6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4443984"/>
            <a:ext cx="5212080" cy="411480"/>
          </a:xfrm>
          <a:prstGeom prst="rect">
            <a:avLst/>
          </a:prstGeom>
          <a:noFill/>
        </p:spPr>
        <p:txBody>
          <a:bodyPr wrap="square" lIns="0" rIns="0" tIns="0" bIns="0">
            <a:spAutoFit/>
          </a:bodyPr>
          <a:lstStyle/>
          <a:p>
            <a:pPr algn="l">
              <a:spcAft>
                <a:spcPts val="800"/>
              </a:spcAft>
              <a:defRPr sz="2500" b="1">
                <a:solidFill>
                  <a:srgbClr val="172B46"/>
                </a:solidFill>
                <a:latin typeface="Aptos"/>
              </a:defRPr>
            </a:pPr>
            <a:r>
              <a:t>Anuj Tanwar</a:t>
            </a:r>
          </a:p>
        </p:txBody>
      </p:sp>
      <p:sp>
        <p:nvSpPr>
          <p:cNvPr id="10" name="TextBox 9"/>
          <p:cNvSpPr txBox="1"/>
          <p:nvPr/>
        </p:nvSpPr>
        <p:spPr>
          <a:xfrm>
            <a:off x="868680" y="4928616"/>
            <a:ext cx="5212080" cy="274320"/>
          </a:xfrm>
          <a:prstGeom prst="rect">
            <a:avLst/>
          </a:prstGeom>
          <a:noFill/>
        </p:spPr>
        <p:txBody>
          <a:bodyPr wrap="square" lIns="0" rIns="0" tIns="0" bIns="0">
            <a:spAutoFit/>
          </a:bodyPr>
          <a:lstStyle/>
          <a:p>
            <a:pPr algn="l">
              <a:spcAft>
                <a:spcPts val="800"/>
              </a:spcAft>
              <a:defRPr sz="1800" b="0">
                <a:solidFill>
                  <a:srgbClr val="64778A"/>
                </a:solidFill>
                <a:latin typeface="Aptos"/>
              </a:defRPr>
            </a:pPr>
            <a:r>
              <a:t>Roll No. 205124017</a:t>
            </a:r>
          </a:p>
        </p:txBody>
      </p:sp>
      <p:sp>
        <p:nvSpPr>
          <p:cNvPr id="11" name="TextBox 10"/>
          <p:cNvSpPr txBox="1"/>
          <p:nvPr/>
        </p:nvSpPr>
        <p:spPr>
          <a:xfrm>
            <a:off x="6400800" y="4443984"/>
            <a:ext cx="4846320" cy="411480"/>
          </a:xfrm>
          <a:prstGeom prst="rect">
            <a:avLst/>
          </a:prstGeom>
          <a:noFill/>
        </p:spPr>
        <p:txBody>
          <a:bodyPr wrap="square" lIns="0" rIns="0" tIns="0" bIns="0">
            <a:spAutoFit/>
          </a:bodyPr>
          <a:lstStyle/>
          <a:p>
            <a:pPr algn="l">
              <a:spcAft>
                <a:spcPts val="800"/>
              </a:spcAft>
              <a:defRPr sz="2500" b="1">
                <a:solidFill>
                  <a:srgbClr val="172B46"/>
                </a:solidFill>
                <a:latin typeface="Aptos"/>
              </a:defRPr>
            </a:pPr>
            <a:r>
              <a:t>Kratish Mewada</a:t>
            </a:r>
          </a:p>
        </p:txBody>
      </p:sp>
      <p:sp>
        <p:nvSpPr>
          <p:cNvPr id="12" name="TextBox 11"/>
          <p:cNvSpPr txBox="1"/>
          <p:nvPr/>
        </p:nvSpPr>
        <p:spPr>
          <a:xfrm>
            <a:off x="6400800" y="4928616"/>
            <a:ext cx="4846320" cy="274320"/>
          </a:xfrm>
          <a:prstGeom prst="rect">
            <a:avLst/>
          </a:prstGeom>
          <a:noFill/>
        </p:spPr>
        <p:txBody>
          <a:bodyPr wrap="square" lIns="0" rIns="0" tIns="0" bIns="0">
            <a:spAutoFit/>
          </a:bodyPr>
          <a:lstStyle/>
          <a:p>
            <a:pPr algn="l">
              <a:spcAft>
                <a:spcPts val="800"/>
              </a:spcAft>
              <a:defRPr sz="1800" b="0">
                <a:solidFill>
                  <a:srgbClr val="64778A"/>
                </a:solidFill>
                <a:latin typeface="Aptos"/>
              </a:defRPr>
            </a:pPr>
            <a:r>
              <a:t>Roll No. 205124045</a:t>
            </a:r>
          </a:p>
        </p:txBody>
      </p:sp>
      <p:sp>
        <p:nvSpPr>
          <p:cNvPr id="13" name="TextBox 12"/>
          <p:cNvSpPr txBox="1"/>
          <p:nvPr/>
        </p:nvSpPr>
        <p:spPr>
          <a:xfrm>
            <a:off x="621792" y="5998464"/>
            <a:ext cx="10972800" cy="365760"/>
          </a:xfrm>
          <a:prstGeom prst="rect">
            <a:avLst/>
          </a:prstGeom>
          <a:noFill/>
        </p:spPr>
        <p:txBody>
          <a:bodyPr wrap="square" lIns="0" rIns="0" tIns="0" bIns="0">
            <a:spAutoFit/>
          </a:bodyPr>
          <a:lstStyle/>
          <a:p>
            <a:pPr algn="l">
              <a:spcAft>
                <a:spcPts val="800"/>
              </a:spcAft>
              <a:defRPr sz="1300" b="1">
                <a:solidFill>
                  <a:srgbClr val="087F8C"/>
                </a:solidFill>
                <a:latin typeface="Aptos"/>
              </a:defRPr>
            </a:pPr>
            <a:r>
              <a:t>PROJECT IMPLEMENTATION  •  GROUP PRESENTATION  •  INDIVIDUAL VIVA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0972800" cy="256032"/>
          </a:xfrm>
          <a:prstGeom prst="rect">
            <a:avLst/>
          </a:prstGeom>
          <a:noFill/>
        </p:spPr>
        <p:txBody>
          <a:bodyPr wrap="square" lIns="0" rIns="0" tIns="0" bIns="0">
            <a:spAutoFit/>
          </a:bodyPr>
          <a:lstStyle/>
          <a:p>
            <a:pPr algn="l">
              <a:spcAft>
                <a:spcPts val="800"/>
              </a:spcAft>
              <a:defRPr sz="1100" b="1">
                <a:solidFill>
                  <a:srgbClr val="087F8C"/>
                </a:solidFill>
                <a:latin typeface="Aptos"/>
              </a:defRPr>
            </a:pPr>
            <a:r>
              <a:t>PROBLEM STATEMENT &amp; OBJECTIVES</a:t>
            </a:r>
          </a:p>
        </p:txBody>
      </p:sp>
      <p:sp>
        <p:nvSpPr>
          <p:cNvPr id="4" name="TextBox 3"/>
          <p:cNvSpPr txBox="1"/>
          <p:nvPr/>
        </p:nvSpPr>
        <p:spPr>
          <a:xfrm>
            <a:off x="502920" y="777240"/>
            <a:ext cx="10972800" cy="640080"/>
          </a:xfrm>
          <a:prstGeom prst="rect">
            <a:avLst/>
          </a:prstGeom>
          <a:noFill/>
        </p:spPr>
        <p:txBody>
          <a:bodyPr wrap="square" lIns="0" rIns="0" tIns="0" bIns="0">
            <a:spAutoFit/>
          </a:bodyPr>
          <a:lstStyle/>
          <a:p>
            <a:pPr algn="l">
              <a:spcAft>
                <a:spcPts val="800"/>
              </a:spcAft>
              <a:defRPr sz="3200" b="1">
                <a:solidFill>
                  <a:srgbClr val="172B46"/>
                </a:solidFill>
                <a:latin typeface="Aptos"/>
              </a:defRPr>
            </a:pPr>
            <a:r>
              <a:t>From scattered preparation to a daily routine</a:t>
            </a:r>
          </a:p>
        </p:txBody>
      </p:sp>
      <p:sp>
        <p:nvSpPr>
          <p:cNvPr id="5" name="Rectangle 4"/>
          <p:cNvSpPr/>
          <p:nvPr/>
        </p:nvSpPr>
        <p:spPr>
          <a:xfrm>
            <a:off x="502920" y="6391656"/>
            <a:ext cx="11155680" cy="10972"/>
          </a:xfrm>
          <a:prstGeom prst="rect">
            <a:avLst/>
          </a:prstGeom>
          <a:solidFill>
            <a:srgbClr val="D7E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10528"/>
            <a:ext cx="10058400" cy="182880"/>
          </a:xfrm>
          <a:prstGeom prst="rect">
            <a:avLst/>
          </a:prstGeom>
          <a:noFill/>
        </p:spPr>
        <p:txBody>
          <a:bodyPr wrap="square" lIns="0" rIns="0" tIns="0" bIns="0">
            <a:spAutoFit/>
          </a:bodyPr>
          <a:lstStyle/>
          <a:p>
            <a:pPr algn="l">
              <a:spcAft>
                <a:spcPts val="800"/>
              </a:spcAft>
              <a:defRPr sz="900" b="0">
                <a:solidFill>
                  <a:srgbClr val="64778A"/>
                </a:solidFill>
                <a:latin typeface="Aptos"/>
              </a:defRPr>
            </a:pPr>
            <a:r>
              <a:t>PLACEMENT COMPANION   /   MOBILE APPLICATION DEVELOPMENT LABORATORY</a:t>
            </a:r>
          </a:p>
        </p:txBody>
      </p:sp>
      <p:sp>
        <p:nvSpPr>
          <p:cNvPr id="7" name="TextBox 6"/>
          <p:cNvSpPr txBox="1"/>
          <p:nvPr/>
        </p:nvSpPr>
        <p:spPr>
          <a:xfrm>
            <a:off x="11018520" y="6473952"/>
            <a:ext cx="640080" cy="256032"/>
          </a:xfrm>
          <a:prstGeom prst="rect">
            <a:avLst/>
          </a:prstGeom>
          <a:noFill/>
        </p:spPr>
        <p:txBody>
          <a:bodyPr wrap="square" lIns="0" rIns="0" tIns="0" bIns="0">
            <a:spAutoFit/>
          </a:bodyPr>
          <a:lstStyle/>
          <a:p>
            <a:pPr algn="r">
              <a:spcAft>
                <a:spcPts val="800"/>
              </a:spcAft>
              <a:defRPr sz="1000" b="1">
                <a:solidFill>
                  <a:srgbClr val="64778A"/>
                </a:solidFill>
                <a:latin typeface="Aptos"/>
              </a:defRPr>
            </a:pPr>
            <a:r>
              <a:t>02 / 12</a:t>
            </a:r>
          </a:p>
        </p:txBody>
      </p:sp>
      <p:sp>
        <p:nvSpPr>
          <p:cNvPr id="8" name="Rounded Rectangle 7"/>
          <p:cNvSpPr/>
          <p:nvPr/>
        </p:nvSpPr>
        <p:spPr>
          <a:xfrm>
            <a:off x="548640" y="1755648"/>
            <a:ext cx="5166360" cy="3328416"/>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938528"/>
            <a:ext cx="4727448" cy="301752"/>
          </a:xfrm>
          <a:prstGeom prst="rect">
            <a:avLst/>
          </a:prstGeom>
          <a:noFill/>
        </p:spPr>
        <p:txBody>
          <a:bodyPr wrap="square" lIns="0" rIns="0" tIns="0" bIns="0">
            <a:spAutoFit/>
          </a:bodyPr>
          <a:lstStyle/>
          <a:p>
            <a:pPr algn="l">
              <a:spcAft>
                <a:spcPts val="800"/>
              </a:spcAft>
              <a:defRPr sz="1200" b="1">
                <a:solidFill>
                  <a:srgbClr val="087F8C"/>
                </a:solidFill>
                <a:latin typeface="Aptos"/>
              </a:defRPr>
            </a:pPr>
            <a:r>
              <a:t>01  /  CONTEXT</a:t>
            </a:r>
          </a:p>
        </p:txBody>
      </p:sp>
      <p:sp>
        <p:nvSpPr>
          <p:cNvPr id="10" name="TextBox 9"/>
          <p:cNvSpPr txBox="1"/>
          <p:nvPr/>
        </p:nvSpPr>
        <p:spPr>
          <a:xfrm>
            <a:off x="768096" y="2322576"/>
            <a:ext cx="4727448" cy="594360"/>
          </a:xfrm>
          <a:prstGeom prst="rect">
            <a:avLst/>
          </a:prstGeom>
          <a:noFill/>
        </p:spPr>
        <p:txBody>
          <a:bodyPr wrap="square" lIns="0" rIns="0" tIns="0" bIns="0">
            <a:spAutoFit/>
          </a:bodyPr>
          <a:lstStyle/>
          <a:p>
            <a:pPr algn="l">
              <a:spcAft>
                <a:spcPts val="800"/>
              </a:spcAft>
              <a:defRPr sz="2200" b="1">
                <a:solidFill>
                  <a:srgbClr val="172B46"/>
                </a:solidFill>
                <a:latin typeface="Aptos"/>
              </a:defRPr>
            </a:pPr>
            <a:r>
              <a:t>The student problem</a:t>
            </a:r>
          </a:p>
        </p:txBody>
      </p:sp>
      <p:sp>
        <p:nvSpPr>
          <p:cNvPr id="11" name="TextBox 10"/>
          <p:cNvSpPr txBox="1"/>
          <p:nvPr/>
        </p:nvSpPr>
        <p:spPr>
          <a:xfrm>
            <a:off x="768096" y="2926080"/>
            <a:ext cx="4727448" cy="2029967"/>
          </a:xfrm>
          <a:prstGeom prst="rect">
            <a:avLst/>
          </a:prstGeom>
          <a:noFill/>
        </p:spPr>
        <p:txBody>
          <a:bodyPr wrap="square" lIns="0" rIns="0" tIns="0" bIns="0">
            <a:spAutoFit/>
          </a:bodyPr>
          <a:lstStyle/>
          <a:p>
            <a:pPr algn="l">
              <a:spcAft>
                <a:spcPts val="800"/>
              </a:spcAft>
              <a:defRPr sz="1800" b="0">
                <a:solidFill>
                  <a:srgbClr val="64778A"/>
                </a:solidFill>
                <a:latin typeface="Aptos"/>
              </a:defRPr>
            </a:pPr>
            <a:r>
              <a:t>Company information, practice questions and notes are scattered.</a:t>
            </a:r>
          </a:p>
          <a:p>
            <a:pPr algn="l">
              <a:spcAft>
                <a:spcPts val="800"/>
              </a:spcAft>
              <a:defRPr sz="1800" b="0">
                <a:solidFill>
                  <a:srgbClr val="64778A"/>
                </a:solidFill>
                <a:latin typeface="Aptos"/>
              </a:defRPr>
            </a:pPr>
            <a:r>
              <a:t>Students struggle to prioritize weak topics and maintain a study schedule.</a:t>
            </a:r>
          </a:p>
        </p:txBody>
      </p:sp>
      <p:sp>
        <p:nvSpPr>
          <p:cNvPr id="12" name="Rounded Rectangle 11"/>
          <p:cNvSpPr/>
          <p:nvPr/>
        </p:nvSpPr>
        <p:spPr>
          <a:xfrm>
            <a:off x="5943600" y="1755648"/>
            <a:ext cx="5687568" cy="3328416"/>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63056" y="1938528"/>
            <a:ext cx="5248656" cy="301752"/>
          </a:xfrm>
          <a:prstGeom prst="rect">
            <a:avLst/>
          </a:prstGeom>
          <a:noFill/>
        </p:spPr>
        <p:txBody>
          <a:bodyPr wrap="square" lIns="0" rIns="0" tIns="0" bIns="0">
            <a:spAutoFit/>
          </a:bodyPr>
          <a:lstStyle/>
          <a:p>
            <a:pPr algn="l">
              <a:spcAft>
                <a:spcPts val="800"/>
              </a:spcAft>
              <a:defRPr sz="1200" b="1">
                <a:solidFill>
                  <a:srgbClr val="087F8C"/>
                </a:solidFill>
                <a:latin typeface="Aptos"/>
              </a:defRPr>
            </a:pPr>
            <a:r>
              <a:t>02  /  GOALS</a:t>
            </a:r>
          </a:p>
        </p:txBody>
      </p:sp>
      <p:sp>
        <p:nvSpPr>
          <p:cNvPr id="14" name="TextBox 13"/>
          <p:cNvSpPr txBox="1"/>
          <p:nvPr/>
        </p:nvSpPr>
        <p:spPr>
          <a:xfrm>
            <a:off x="6163056" y="2322576"/>
            <a:ext cx="5248656" cy="594360"/>
          </a:xfrm>
          <a:prstGeom prst="rect">
            <a:avLst/>
          </a:prstGeom>
          <a:noFill/>
        </p:spPr>
        <p:txBody>
          <a:bodyPr wrap="square" lIns="0" rIns="0" tIns="0" bIns="0">
            <a:spAutoFit/>
          </a:bodyPr>
          <a:lstStyle/>
          <a:p>
            <a:pPr algn="l">
              <a:spcAft>
                <a:spcPts val="800"/>
              </a:spcAft>
              <a:defRPr sz="2200" b="1">
                <a:solidFill>
                  <a:srgbClr val="172B46"/>
                </a:solidFill>
                <a:latin typeface="Aptos"/>
              </a:defRPr>
            </a:pPr>
            <a:r>
              <a:t>Our objectives</a:t>
            </a:r>
          </a:p>
        </p:txBody>
      </p:sp>
      <p:sp>
        <p:nvSpPr>
          <p:cNvPr id="15" name="TextBox 14"/>
          <p:cNvSpPr txBox="1"/>
          <p:nvPr/>
        </p:nvSpPr>
        <p:spPr>
          <a:xfrm>
            <a:off x="6163056" y="2926080"/>
            <a:ext cx="5248656" cy="2029967"/>
          </a:xfrm>
          <a:prstGeom prst="rect">
            <a:avLst/>
          </a:prstGeom>
          <a:noFill/>
        </p:spPr>
        <p:txBody>
          <a:bodyPr wrap="square" lIns="0" rIns="0" tIns="0" bIns="0">
            <a:spAutoFit/>
          </a:bodyPr>
          <a:lstStyle/>
          <a:p>
            <a:pPr algn="l">
              <a:spcAft>
                <a:spcPts val="800"/>
              </a:spcAft>
              <a:defRPr sz="1800" b="0">
                <a:solidFill>
                  <a:srgbClr val="64778A"/>
                </a:solidFill>
                <a:latin typeface="Aptos"/>
              </a:defRPr>
            </a:pPr>
            <a:r>
              <a:t>Organize preparation in one Android app.</a:t>
            </a:r>
          </a:p>
          <a:p>
            <a:pPr algn="l">
              <a:spcAft>
                <a:spcPts val="800"/>
              </a:spcAft>
              <a:defRPr sz="1800" b="0">
                <a:solidFill>
                  <a:srgbClr val="64778A"/>
                </a:solidFill>
                <a:latin typeface="Aptos"/>
              </a:defRPr>
            </a:pPr>
            <a:r>
              <a:t>Track tasks and retain study material locally.</a:t>
            </a:r>
          </a:p>
          <a:p>
            <a:pPr algn="l">
              <a:spcAft>
                <a:spcPts val="800"/>
              </a:spcAft>
              <a:defRPr sz="1800" b="0">
                <a:solidFill>
                  <a:srgbClr val="64778A"/>
                </a:solidFill>
                <a:latin typeface="Aptos"/>
              </a:defRPr>
            </a:pPr>
            <a:r>
              <a:t>Personalize guidance using AI.</a:t>
            </a:r>
          </a:p>
        </p:txBody>
      </p:sp>
      <p:sp>
        <p:nvSpPr>
          <p:cNvPr id="16" name="Rounded Rectangle 15"/>
          <p:cNvSpPr/>
          <p:nvPr/>
        </p:nvSpPr>
        <p:spPr>
          <a:xfrm>
            <a:off x="548640" y="5330952"/>
            <a:ext cx="11082528" cy="658368"/>
          </a:xfrm>
          <a:prstGeom prst="roundRect">
            <a:avLst>
              <a:gd name="adj" fmla="val 12000"/>
            </a:avLst>
          </a:prstGeom>
          <a:solidFill>
            <a:srgbClr val="17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672" y="5504688"/>
            <a:ext cx="10570464" cy="320040"/>
          </a:xfrm>
          <a:prstGeom prst="rect">
            <a:avLst/>
          </a:prstGeom>
          <a:noFill/>
        </p:spPr>
        <p:txBody>
          <a:bodyPr wrap="square" lIns="0" rIns="0" tIns="0" bIns="0">
            <a:spAutoFit/>
          </a:bodyPr>
          <a:lstStyle/>
          <a:p>
            <a:pPr algn="l">
              <a:spcAft>
                <a:spcPts val="800"/>
              </a:spcAft>
              <a:defRPr sz="2000" b="1">
                <a:solidFill>
                  <a:srgbClr val="FFFFFF"/>
                </a:solidFill>
                <a:latin typeface="Aptos"/>
              </a:defRPr>
            </a:pPr>
            <a:r>
              <a:t>Target users: students preparing for campus placements and interviews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0972800" cy="256032"/>
          </a:xfrm>
          <a:prstGeom prst="rect">
            <a:avLst/>
          </a:prstGeom>
          <a:noFill/>
        </p:spPr>
        <p:txBody>
          <a:bodyPr wrap="square" lIns="0" rIns="0" tIns="0" bIns="0">
            <a:spAutoFit/>
          </a:bodyPr>
          <a:lstStyle/>
          <a:p>
            <a:pPr algn="l">
              <a:spcAft>
                <a:spcPts val="800"/>
              </a:spcAft>
              <a:defRPr sz="1100" b="1">
                <a:solidFill>
                  <a:srgbClr val="087F8C"/>
                </a:solidFill>
                <a:latin typeface="Aptos"/>
              </a:defRPr>
            </a:pPr>
            <a:r>
              <a:t>MARKET DRIVERS &amp; TARGET USERS</a:t>
            </a:r>
          </a:p>
        </p:txBody>
      </p:sp>
      <p:sp>
        <p:nvSpPr>
          <p:cNvPr id="4" name="TextBox 3"/>
          <p:cNvSpPr txBox="1"/>
          <p:nvPr/>
        </p:nvSpPr>
        <p:spPr>
          <a:xfrm>
            <a:off x="502920" y="777240"/>
            <a:ext cx="10972800" cy="640080"/>
          </a:xfrm>
          <a:prstGeom prst="rect">
            <a:avLst/>
          </a:prstGeom>
          <a:noFill/>
        </p:spPr>
        <p:txBody>
          <a:bodyPr wrap="square" lIns="0" rIns="0" tIns="0" bIns="0">
            <a:spAutoFit/>
          </a:bodyPr>
          <a:lstStyle/>
          <a:p>
            <a:pPr algn="l">
              <a:spcAft>
                <a:spcPts val="800"/>
              </a:spcAft>
              <a:defRPr sz="3200" b="1">
                <a:solidFill>
                  <a:srgbClr val="172B46"/>
                </a:solidFill>
                <a:latin typeface="Aptos"/>
              </a:defRPr>
            </a:pPr>
            <a:r>
              <a:t>Career readiness creates a practical student need</a:t>
            </a:r>
          </a:p>
        </p:txBody>
      </p:sp>
      <p:sp>
        <p:nvSpPr>
          <p:cNvPr id="5" name="Rectangle 4"/>
          <p:cNvSpPr/>
          <p:nvPr/>
        </p:nvSpPr>
        <p:spPr>
          <a:xfrm>
            <a:off x="502920" y="6391656"/>
            <a:ext cx="11155680" cy="10972"/>
          </a:xfrm>
          <a:prstGeom prst="rect">
            <a:avLst/>
          </a:prstGeom>
          <a:solidFill>
            <a:srgbClr val="D7E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10528"/>
            <a:ext cx="10058400" cy="182880"/>
          </a:xfrm>
          <a:prstGeom prst="rect">
            <a:avLst/>
          </a:prstGeom>
          <a:noFill/>
        </p:spPr>
        <p:txBody>
          <a:bodyPr wrap="square" lIns="0" rIns="0" tIns="0" bIns="0">
            <a:spAutoFit/>
          </a:bodyPr>
          <a:lstStyle/>
          <a:p>
            <a:pPr algn="l">
              <a:spcAft>
                <a:spcPts val="800"/>
              </a:spcAft>
              <a:defRPr sz="900" b="0">
                <a:solidFill>
                  <a:srgbClr val="64778A"/>
                </a:solidFill>
                <a:latin typeface="Aptos"/>
              </a:defRPr>
            </a:pPr>
            <a:r>
              <a:t>PLACEMENT COMPANION   /   MOBILE APPLICATION DEVELOPMENT LABORATORY</a:t>
            </a:r>
          </a:p>
        </p:txBody>
      </p:sp>
      <p:sp>
        <p:nvSpPr>
          <p:cNvPr id="7" name="TextBox 6"/>
          <p:cNvSpPr txBox="1"/>
          <p:nvPr/>
        </p:nvSpPr>
        <p:spPr>
          <a:xfrm>
            <a:off x="11018520" y="6473952"/>
            <a:ext cx="640080" cy="256032"/>
          </a:xfrm>
          <a:prstGeom prst="rect">
            <a:avLst/>
          </a:prstGeom>
          <a:noFill/>
        </p:spPr>
        <p:txBody>
          <a:bodyPr wrap="square" lIns="0" rIns="0" tIns="0" bIns="0">
            <a:spAutoFit/>
          </a:bodyPr>
          <a:lstStyle/>
          <a:p>
            <a:pPr algn="r">
              <a:spcAft>
                <a:spcPts val="800"/>
              </a:spcAft>
              <a:defRPr sz="1000" b="1">
                <a:solidFill>
                  <a:srgbClr val="64778A"/>
                </a:solidFill>
                <a:latin typeface="Aptos"/>
              </a:defRPr>
            </a:pPr>
            <a:r>
              <a:t>03 / 12</a:t>
            </a:r>
          </a:p>
        </p:txBody>
      </p:sp>
      <p:sp>
        <p:nvSpPr>
          <p:cNvPr id="8" name="Rounded Rectangle 7"/>
          <p:cNvSpPr/>
          <p:nvPr/>
        </p:nvSpPr>
        <p:spPr>
          <a:xfrm>
            <a:off x="548640" y="1773936"/>
            <a:ext cx="3538728" cy="306324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956816"/>
            <a:ext cx="3099816" cy="301752"/>
          </a:xfrm>
          <a:prstGeom prst="rect">
            <a:avLst/>
          </a:prstGeom>
          <a:noFill/>
        </p:spPr>
        <p:txBody>
          <a:bodyPr wrap="square" lIns="0" rIns="0" tIns="0" bIns="0">
            <a:spAutoFit/>
          </a:bodyPr>
          <a:lstStyle/>
          <a:p>
            <a:pPr algn="l">
              <a:spcAft>
                <a:spcPts val="800"/>
              </a:spcAft>
              <a:defRPr sz="1200" b="1">
                <a:solidFill>
                  <a:srgbClr val="087F8C"/>
                </a:solidFill>
                <a:latin typeface="Aptos"/>
              </a:defRPr>
            </a:pPr>
            <a:r>
              <a:t>NEED</a:t>
            </a:r>
          </a:p>
        </p:txBody>
      </p:sp>
      <p:sp>
        <p:nvSpPr>
          <p:cNvPr id="10" name="TextBox 9"/>
          <p:cNvSpPr txBox="1"/>
          <p:nvPr/>
        </p:nvSpPr>
        <p:spPr>
          <a:xfrm>
            <a:off x="768096" y="2340864"/>
            <a:ext cx="3099816" cy="594360"/>
          </a:xfrm>
          <a:prstGeom prst="rect">
            <a:avLst/>
          </a:prstGeom>
          <a:noFill/>
        </p:spPr>
        <p:txBody>
          <a:bodyPr wrap="square" lIns="0" rIns="0" tIns="0" bIns="0">
            <a:spAutoFit/>
          </a:bodyPr>
          <a:lstStyle/>
          <a:p>
            <a:pPr algn="l">
              <a:spcAft>
                <a:spcPts val="800"/>
              </a:spcAft>
              <a:defRPr sz="2200" b="1">
                <a:solidFill>
                  <a:srgbClr val="172B46"/>
                </a:solidFill>
                <a:latin typeface="Aptos"/>
              </a:defRPr>
            </a:pPr>
            <a:r>
              <a:t>Career readiness</a:t>
            </a:r>
          </a:p>
        </p:txBody>
      </p:sp>
      <p:sp>
        <p:nvSpPr>
          <p:cNvPr id="11" name="TextBox 10"/>
          <p:cNvSpPr txBox="1"/>
          <p:nvPr/>
        </p:nvSpPr>
        <p:spPr>
          <a:xfrm>
            <a:off x="768096" y="2944368"/>
            <a:ext cx="3099816" cy="1764792"/>
          </a:xfrm>
          <a:prstGeom prst="rect">
            <a:avLst/>
          </a:prstGeom>
          <a:noFill/>
        </p:spPr>
        <p:txBody>
          <a:bodyPr wrap="square" lIns="0" rIns="0" tIns="0" bIns="0">
            <a:spAutoFit/>
          </a:bodyPr>
          <a:lstStyle/>
          <a:p>
            <a:pPr algn="l">
              <a:spcAft>
                <a:spcPts val="800"/>
              </a:spcAft>
              <a:defRPr sz="1800" b="0">
                <a:solidFill>
                  <a:srgbClr val="64778A"/>
                </a:solidFill>
                <a:latin typeface="Aptos"/>
              </a:defRPr>
            </a:pPr>
            <a:r>
              <a:t>Placement preparation needs technical practice, interview confidence and a consistent routine.</a:t>
            </a:r>
          </a:p>
        </p:txBody>
      </p:sp>
      <p:sp>
        <p:nvSpPr>
          <p:cNvPr id="12" name="Rounded Rectangle 11"/>
          <p:cNvSpPr/>
          <p:nvPr/>
        </p:nvSpPr>
        <p:spPr>
          <a:xfrm>
            <a:off x="4315968" y="1773936"/>
            <a:ext cx="3538728" cy="306324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35424" y="1956816"/>
            <a:ext cx="3099816" cy="301752"/>
          </a:xfrm>
          <a:prstGeom prst="rect">
            <a:avLst/>
          </a:prstGeom>
          <a:noFill/>
        </p:spPr>
        <p:txBody>
          <a:bodyPr wrap="square" lIns="0" rIns="0" tIns="0" bIns="0">
            <a:spAutoFit/>
          </a:bodyPr>
          <a:lstStyle/>
          <a:p>
            <a:pPr algn="l">
              <a:spcAft>
                <a:spcPts val="800"/>
              </a:spcAft>
              <a:defRPr sz="1200" b="1">
                <a:solidFill>
                  <a:srgbClr val="087F8C"/>
                </a:solidFill>
                <a:latin typeface="Aptos"/>
              </a:defRPr>
            </a:pPr>
            <a:r>
              <a:t>CONTEXT</a:t>
            </a:r>
          </a:p>
        </p:txBody>
      </p:sp>
      <p:sp>
        <p:nvSpPr>
          <p:cNvPr id="14" name="TextBox 13"/>
          <p:cNvSpPr txBox="1"/>
          <p:nvPr/>
        </p:nvSpPr>
        <p:spPr>
          <a:xfrm>
            <a:off x="4535424" y="2340864"/>
            <a:ext cx="3099816" cy="594360"/>
          </a:xfrm>
          <a:prstGeom prst="rect">
            <a:avLst/>
          </a:prstGeom>
          <a:noFill/>
        </p:spPr>
        <p:txBody>
          <a:bodyPr wrap="square" lIns="0" rIns="0" tIns="0" bIns="0">
            <a:spAutoFit/>
          </a:bodyPr>
          <a:lstStyle/>
          <a:p>
            <a:pPr algn="l">
              <a:spcAft>
                <a:spcPts val="800"/>
              </a:spcAft>
              <a:defRPr sz="2200" b="1">
                <a:solidFill>
                  <a:srgbClr val="172B46"/>
                </a:solidFill>
                <a:latin typeface="Aptos"/>
              </a:defRPr>
            </a:pPr>
            <a:r>
              <a:t>Personal guidance</a:t>
            </a:r>
          </a:p>
        </p:txBody>
      </p:sp>
      <p:sp>
        <p:nvSpPr>
          <p:cNvPr id="15" name="TextBox 14"/>
          <p:cNvSpPr txBox="1"/>
          <p:nvPr/>
        </p:nvSpPr>
        <p:spPr>
          <a:xfrm>
            <a:off x="4535424" y="2944368"/>
            <a:ext cx="3099816" cy="1764792"/>
          </a:xfrm>
          <a:prstGeom prst="rect">
            <a:avLst/>
          </a:prstGeom>
          <a:noFill/>
        </p:spPr>
        <p:txBody>
          <a:bodyPr wrap="square" lIns="0" rIns="0" tIns="0" bIns="0">
            <a:spAutoFit/>
          </a:bodyPr>
          <a:lstStyle/>
          <a:p>
            <a:pPr algn="l">
              <a:spcAft>
                <a:spcPts val="800"/>
              </a:spcAft>
              <a:defRPr sz="1800" b="0">
                <a:solidFill>
                  <a:srgbClr val="64778A"/>
                </a:solidFill>
                <a:latin typeface="Aptos"/>
              </a:defRPr>
            </a:pPr>
            <a:r>
              <a:t>AICTE NEAT supports EdTech that addresses learning gaps and employability skills.</a:t>
            </a:r>
          </a:p>
        </p:txBody>
      </p:sp>
      <p:sp>
        <p:nvSpPr>
          <p:cNvPr id="16" name="Rounded Rectangle 15"/>
          <p:cNvSpPr/>
          <p:nvPr/>
        </p:nvSpPr>
        <p:spPr>
          <a:xfrm>
            <a:off x="8083296" y="1773936"/>
            <a:ext cx="3538728" cy="306324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02752" y="1956816"/>
            <a:ext cx="3099816" cy="301752"/>
          </a:xfrm>
          <a:prstGeom prst="rect">
            <a:avLst/>
          </a:prstGeom>
          <a:noFill/>
        </p:spPr>
        <p:txBody>
          <a:bodyPr wrap="square" lIns="0" rIns="0" tIns="0" bIns="0">
            <a:spAutoFit/>
          </a:bodyPr>
          <a:lstStyle/>
          <a:p>
            <a:pPr algn="l">
              <a:spcAft>
                <a:spcPts val="800"/>
              </a:spcAft>
              <a:defRPr sz="1200" b="1">
                <a:solidFill>
                  <a:srgbClr val="087F8C"/>
                </a:solidFill>
                <a:latin typeface="Aptos"/>
              </a:defRPr>
            </a:pPr>
            <a:r>
              <a:t>PROPOSED CHANNEL</a:t>
            </a:r>
          </a:p>
        </p:txBody>
      </p:sp>
      <p:sp>
        <p:nvSpPr>
          <p:cNvPr id="18" name="TextBox 17"/>
          <p:cNvSpPr txBox="1"/>
          <p:nvPr/>
        </p:nvSpPr>
        <p:spPr>
          <a:xfrm>
            <a:off x="8302752" y="2340864"/>
            <a:ext cx="3099816" cy="594360"/>
          </a:xfrm>
          <a:prstGeom prst="rect">
            <a:avLst/>
          </a:prstGeom>
          <a:noFill/>
        </p:spPr>
        <p:txBody>
          <a:bodyPr wrap="square" lIns="0" rIns="0" tIns="0" bIns="0">
            <a:spAutoFit/>
          </a:bodyPr>
          <a:lstStyle/>
          <a:p>
            <a:pPr algn="l">
              <a:spcAft>
                <a:spcPts val="800"/>
              </a:spcAft>
              <a:defRPr sz="2200" b="1">
                <a:solidFill>
                  <a:srgbClr val="172B46"/>
                </a:solidFill>
                <a:latin typeface="Aptos"/>
              </a:defRPr>
            </a:pPr>
            <a:r>
              <a:t>Campus access</a:t>
            </a:r>
          </a:p>
        </p:txBody>
      </p:sp>
      <p:sp>
        <p:nvSpPr>
          <p:cNvPr id="19" name="TextBox 18"/>
          <p:cNvSpPr txBox="1"/>
          <p:nvPr/>
        </p:nvSpPr>
        <p:spPr>
          <a:xfrm>
            <a:off x="8302752" y="2944368"/>
            <a:ext cx="3099816" cy="1764792"/>
          </a:xfrm>
          <a:prstGeom prst="rect">
            <a:avLst/>
          </a:prstGeom>
          <a:noFill/>
        </p:spPr>
        <p:txBody>
          <a:bodyPr wrap="square" lIns="0" rIns="0" tIns="0" bIns="0">
            <a:spAutoFit/>
          </a:bodyPr>
          <a:lstStyle/>
          <a:p>
            <a:pPr algn="l">
              <a:spcAft>
                <a:spcPts val="800"/>
              </a:spcAft>
              <a:defRPr sz="1800" b="0">
                <a:solidFill>
                  <a:srgbClr val="64778A"/>
                </a:solidFill>
                <a:latin typeface="Aptos"/>
              </a:defRPr>
            </a:pPr>
            <a:r>
              <a:t>Start with placement-season students; reach them through peer groups and placement cells.</a:t>
            </a:r>
          </a:p>
        </p:txBody>
      </p:sp>
      <p:sp>
        <p:nvSpPr>
          <p:cNvPr id="20" name="Rounded Rectangle 19"/>
          <p:cNvSpPr/>
          <p:nvPr/>
        </p:nvSpPr>
        <p:spPr>
          <a:xfrm>
            <a:off x="548640" y="5074920"/>
            <a:ext cx="11082528" cy="694944"/>
          </a:xfrm>
          <a:prstGeom prst="roundRect">
            <a:avLst>
              <a:gd name="adj" fmla="val 12000"/>
            </a:avLst>
          </a:prstGeom>
          <a:solidFill>
            <a:srgbClr val="E6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4672" y="5257800"/>
            <a:ext cx="10570464" cy="347472"/>
          </a:xfrm>
          <a:prstGeom prst="rect">
            <a:avLst/>
          </a:prstGeom>
          <a:noFill/>
        </p:spPr>
        <p:txBody>
          <a:bodyPr wrap="square" lIns="0" rIns="0" tIns="0" bIns="0">
            <a:spAutoFit/>
          </a:bodyPr>
          <a:lstStyle/>
          <a:p>
            <a:pPr algn="l">
              <a:spcAft>
                <a:spcPts val="800"/>
              </a:spcAft>
              <a:defRPr sz="1800" b="1">
                <a:solidFill>
                  <a:srgbClr val="087F8C"/>
                </a:solidFill>
                <a:latin typeface="Aptos"/>
              </a:defRPr>
            </a:pPr>
            <a:r>
              <a:t>Positioning: a daily preparation companion alongside practice and recruitment platforms.</a:t>
            </a:r>
          </a:p>
        </p:txBody>
      </p:sp>
      <p:sp>
        <p:nvSpPr>
          <p:cNvPr id="22" name="TextBox 21"/>
          <p:cNvSpPr txBox="1"/>
          <p:nvPr/>
        </p:nvSpPr>
        <p:spPr>
          <a:xfrm>
            <a:off x="594360" y="5998464"/>
            <a:ext cx="10972800" cy="201168"/>
          </a:xfrm>
          <a:prstGeom prst="rect">
            <a:avLst/>
          </a:prstGeom>
          <a:noFill/>
        </p:spPr>
        <p:txBody>
          <a:bodyPr wrap="square" lIns="0" rIns="0" tIns="0" bIns="0">
            <a:spAutoFit/>
          </a:bodyPr>
          <a:lstStyle/>
          <a:p>
            <a:pPr algn="l">
              <a:spcAft>
                <a:spcPts val="800"/>
              </a:spcAft>
              <a:defRPr sz="1000" b="0">
                <a:solidFill>
                  <a:srgbClr val="64778A"/>
                </a:solidFill>
                <a:latin typeface="Aptos"/>
              </a:defRPr>
            </a:pPr>
            <a:r>
              <a:rPr>
                <a:hlinkClick r:id="rId2"/>
              </a:rPr>
              <a:t>Context: AICTE NEAT; NIT Trichy Training &amp; Placement. Targeting and positioning are project proposals.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0972800" cy="256032"/>
          </a:xfrm>
          <a:prstGeom prst="rect">
            <a:avLst/>
          </a:prstGeom>
          <a:noFill/>
        </p:spPr>
        <p:txBody>
          <a:bodyPr wrap="square" lIns="0" rIns="0" tIns="0" bIns="0">
            <a:spAutoFit/>
          </a:bodyPr>
          <a:lstStyle/>
          <a:p>
            <a:pPr algn="l">
              <a:spcAft>
                <a:spcPts val="800"/>
              </a:spcAft>
              <a:defRPr sz="1100" b="1">
                <a:solidFill>
                  <a:srgbClr val="087F8C"/>
                </a:solidFill>
                <a:latin typeface="Aptos"/>
              </a:defRPr>
            </a:pPr>
            <a:r>
              <a:t>BUSINESS DRIVERS &amp; PROPOSED SUSTAINABILITY</a:t>
            </a:r>
          </a:p>
        </p:txBody>
      </p:sp>
      <p:sp>
        <p:nvSpPr>
          <p:cNvPr id="4" name="TextBox 3"/>
          <p:cNvSpPr txBox="1"/>
          <p:nvPr/>
        </p:nvSpPr>
        <p:spPr>
          <a:xfrm>
            <a:off x="502920" y="777240"/>
            <a:ext cx="10972800" cy="640080"/>
          </a:xfrm>
          <a:prstGeom prst="rect">
            <a:avLst/>
          </a:prstGeom>
          <a:noFill/>
        </p:spPr>
        <p:txBody>
          <a:bodyPr wrap="square" lIns="0" rIns="0" tIns="0" bIns="0">
            <a:spAutoFit/>
          </a:bodyPr>
          <a:lstStyle/>
          <a:p>
            <a:pPr algn="l">
              <a:spcAft>
                <a:spcPts val="800"/>
              </a:spcAft>
              <a:defRPr sz="3200" b="1">
                <a:solidFill>
                  <a:srgbClr val="172B46"/>
                </a:solidFill>
                <a:latin typeface="Aptos"/>
              </a:defRPr>
            </a:pPr>
            <a:r>
              <a:t>Student value must translate into repeat usage</a:t>
            </a:r>
          </a:p>
        </p:txBody>
      </p:sp>
      <p:sp>
        <p:nvSpPr>
          <p:cNvPr id="5" name="Rectangle 4"/>
          <p:cNvSpPr/>
          <p:nvPr/>
        </p:nvSpPr>
        <p:spPr>
          <a:xfrm>
            <a:off x="502920" y="6391656"/>
            <a:ext cx="11155680" cy="10972"/>
          </a:xfrm>
          <a:prstGeom prst="rect">
            <a:avLst/>
          </a:prstGeom>
          <a:solidFill>
            <a:srgbClr val="D7E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10528"/>
            <a:ext cx="10058400" cy="182880"/>
          </a:xfrm>
          <a:prstGeom prst="rect">
            <a:avLst/>
          </a:prstGeom>
          <a:noFill/>
        </p:spPr>
        <p:txBody>
          <a:bodyPr wrap="square" lIns="0" rIns="0" tIns="0" bIns="0">
            <a:spAutoFit/>
          </a:bodyPr>
          <a:lstStyle/>
          <a:p>
            <a:pPr algn="l">
              <a:spcAft>
                <a:spcPts val="800"/>
              </a:spcAft>
              <a:defRPr sz="900" b="0">
                <a:solidFill>
                  <a:srgbClr val="64778A"/>
                </a:solidFill>
                <a:latin typeface="Aptos"/>
              </a:defRPr>
            </a:pPr>
            <a:r>
              <a:t>PLACEMENT COMPANION   /   MOBILE APPLICATION DEVELOPMENT LABORATORY</a:t>
            </a:r>
          </a:p>
        </p:txBody>
      </p:sp>
      <p:sp>
        <p:nvSpPr>
          <p:cNvPr id="7" name="TextBox 6"/>
          <p:cNvSpPr txBox="1"/>
          <p:nvPr/>
        </p:nvSpPr>
        <p:spPr>
          <a:xfrm>
            <a:off x="11018520" y="6473952"/>
            <a:ext cx="640080" cy="256032"/>
          </a:xfrm>
          <a:prstGeom prst="rect">
            <a:avLst/>
          </a:prstGeom>
          <a:noFill/>
        </p:spPr>
        <p:txBody>
          <a:bodyPr wrap="square" lIns="0" rIns="0" tIns="0" bIns="0">
            <a:spAutoFit/>
          </a:bodyPr>
          <a:lstStyle/>
          <a:p>
            <a:pPr algn="r">
              <a:spcAft>
                <a:spcPts val="800"/>
              </a:spcAft>
              <a:defRPr sz="1000" b="1">
                <a:solidFill>
                  <a:srgbClr val="64778A"/>
                </a:solidFill>
                <a:latin typeface="Aptos"/>
              </a:defRPr>
            </a:pPr>
            <a:r>
              <a:t>04 / 12</a:t>
            </a:r>
          </a:p>
        </p:txBody>
      </p:sp>
      <p:sp>
        <p:nvSpPr>
          <p:cNvPr id="8" name="Rounded Rectangle 7"/>
          <p:cNvSpPr/>
          <p:nvPr/>
        </p:nvSpPr>
        <p:spPr>
          <a:xfrm>
            <a:off x="548640" y="1773936"/>
            <a:ext cx="5431536" cy="1901952"/>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975104"/>
            <a:ext cx="4992624" cy="594360"/>
          </a:xfrm>
          <a:prstGeom prst="rect">
            <a:avLst/>
          </a:prstGeom>
          <a:noFill/>
        </p:spPr>
        <p:txBody>
          <a:bodyPr wrap="square" lIns="0" rIns="0" tIns="0" bIns="0">
            <a:spAutoFit/>
          </a:bodyPr>
          <a:lstStyle/>
          <a:p>
            <a:pPr algn="l">
              <a:spcAft>
                <a:spcPts val="800"/>
              </a:spcAft>
              <a:defRPr sz="2200" b="1">
                <a:solidFill>
                  <a:srgbClr val="172B46"/>
                </a:solidFill>
                <a:latin typeface="Aptos"/>
              </a:defRPr>
            </a:pPr>
            <a:r>
              <a:t>Value &amp; retention</a:t>
            </a:r>
          </a:p>
        </p:txBody>
      </p:sp>
      <p:sp>
        <p:nvSpPr>
          <p:cNvPr id="10" name="TextBox 9"/>
          <p:cNvSpPr txBox="1"/>
          <p:nvPr/>
        </p:nvSpPr>
        <p:spPr>
          <a:xfrm>
            <a:off x="768096" y="2578608"/>
            <a:ext cx="4992624" cy="969263"/>
          </a:xfrm>
          <a:prstGeom prst="rect">
            <a:avLst/>
          </a:prstGeom>
          <a:noFill/>
        </p:spPr>
        <p:txBody>
          <a:bodyPr wrap="square" lIns="0" rIns="0" tIns="0" bIns="0">
            <a:spAutoFit/>
          </a:bodyPr>
          <a:lstStyle/>
          <a:p>
            <a:pPr algn="l">
              <a:spcAft>
                <a:spcPts val="800"/>
              </a:spcAft>
              <a:defRPr sz="1800" b="0">
                <a:solidFill>
                  <a:srgbClr val="64778A"/>
                </a:solidFill>
                <a:latin typeface="Aptos"/>
              </a:defRPr>
            </a:pPr>
            <a:r>
              <a:t>One place for tasks, notes and AI help.</a:t>
            </a:r>
          </a:p>
          <a:p>
            <a:pPr algn="l">
              <a:spcAft>
                <a:spcPts val="800"/>
              </a:spcAft>
              <a:defRPr sz="1800" b="0">
                <a:solidFill>
                  <a:srgbClr val="64778A"/>
                </a:solidFill>
                <a:latin typeface="Aptos"/>
              </a:defRPr>
            </a:pPr>
            <a:r>
              <a:t>Saved progress can support a daily routine.</a:t>
            </a:r>
          </a:p>
        </p:txBody>
      </p:sp>
      <p:sp>
        <p:nvSpPr>
          <p:cNvPr id="11" name="Rounded Rectangle 10"/>
          <p:cNvSpPr/>
          <p:nvPr/>
        </p:nvSpPr>
        <p:spPr>
          <a:xfrm>
            <a:off x="6217920" y="1773936"/>
            <a:ext cx="5413248" cy="1901952"/>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7376" y="1975104"/>
            <a:ext cx="4974336" cy="594360"/>
          </a:xfrm>
          <a:prstGeom prst="rect">
            <a:avLst/>
          </a:prstGeom>
          <a:noFill/>
        </p:spPr>
        <p:txBody>
          <a:bodyPr wrap="square" lIns="0" rIns="0" tIns="0" bIns="0">
            <a:spAutoFit/>
          </a:bodyPr>
          <a:lstStyle/>
          <a:p>
            <a:pPr algn="l">
              <a:spcAft>
                <a:spcPts val="800"/>
              </a:spcAft>
              <a:defRPr sz="2200" b="1">
                <a:solidFill>
                  <a:srgbClr val="172B46"/>
                </a:solidFill>
                <a:latin typeface="Aptos"/>
              </a:defRPr>
            </a:pPr>
            <a:r>
              <a:t>Adoption channels</a:t>
            </a:r>
          </a:p>
        </p:txBody>
      </p:sp>
      <p:sp>
        <p:nvSpPr>
          <p:cNvPr id="13" name="TextBox 12"/>
          <p:cNvSpPr txBox="1"/>
          <p:nvPr/>
        </p:nvSpPr>
        <p:spPr>
          <a:xfrm>
            <a:off x="6437376" y="2578608"/>
            <a:ext cx="4974336" cy="969263"/>
          </a:xfrm>
          <a:prstGeom prst="rect">
            <a:avLst/>
          </a:prstGeom>
          <a:noFill/>
        </p:spPr>
        <p:txBody>
          <a:bodyPr wrap="square" lIns="0" rIns="0" tIns="0" bIns="0">
            <a:spAutoFit/>
          </a:bodyPr>
          <a:lstStyle/>
          <a:p>
            <a:pPr algn="l">
              <a:spcAft>
                <a:spcPts val="800"/>
              </a:spcAft>
              <a:defRPr sz="1800" b="0">
                <a:solidFill>
                  <a:srgbClr val="64778A"/>
                </a:solidFill>
                <a:latin typeface="Aptos"/>
              </a:defRPr>
            </a:pPr>
            <a:r>
              <a:t>Pilot with student groups and placement cells.</a:t>
            </a:r>
          </a:p>
          <a:p>
            <a:pPr algn="l">
              <a:spcAft>
                <a:spcPts val="800"/>
              </a:spcAft>
              <a:defRPr sz="1800" b="0">
                <a:solidFill>
                  <a:srgbClr val="64778A"/>
                </a:solidFill>
                <a:latin typeface="Aptos"/>
              </a:defRPr>
            </a:pPr>
            <a:r>
              <a:t>Use feedback to improve the preparation flow.</a:t>
            </a:r>
          </a:p>
        </p:txBody>
      </p:sp>
      <p:sp>
        <p:nvSpPr>
          <p:cNvPr id="14" name="Rounded Rectangle 13"/>
          <p:cNvSpPr/>
          <p:nvPr/>
        </p:nvSpPr>
        <p:spPr>
          <a:xfrm>
            <a:off x="548640" y="3886200"/>
            <a:ext cx="5431536" cy="1901952"/>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8096" y="4087368"/>
            <a:ext cx="4992624" cy="594360"/>
          </a:xfrm>
          <a:prstGeom prst="rect">
            <a:avLst/>
          </a:prstGeom>
          <a:noFill/>
        </p:spPr>
        <p:txBody>
          <a:bodyPr wrap="square" lIns="0" rIns="0" tIns="0" bIns="0">
            <a:spAutoFit/>
          </a:bodyPr>
          <a:lstStyle/>
          <a:p>
            <a:pPr algn="l">
              <a:spcAft>
                <a:spcPts val="800"/>
              </a:spcAft>
              <a:defRPr sz="2200" b="1">
                <a:solidFill>
                  <a:srgbClr val="172B46"/>
                </a:solidFill>
                <a:latin typeface="Aptos"/>
              </a:defRPr>
            </a:pPr>
            <a:r>
              <a:t>Possible business model</a:t>
            </a:r>
          </a:p>
        </p:txBody>
      </p:sp>
      <p:sp>
        <p:nvSpPr>
          <p:cNvPr id="16" name="TextBox 15"/>
          <p:cNvSpPr txBox="1"/>
          <p:nvPr/>
        </p:nvSpPr>
        <p:spPr>
          <a:xfrm>
            <a:off x="768096" y="4690872"/>
            <a:ext cx="4992624" cy="969264"/>
          </a:xfrm>
          <a:prstGeom prst="rect">
            <a:avLst/>
          </a:prstGeom>
          <a:noFill/>
        </p:spPr>
        <p:txBody>
          <a:bodyPr wrap="square" lIns="0" rIns="0" tIns="0" bIns="0">
            <a:spAutoFit/>
          </a:bodyPr>
          <a:lstStyle/>
          <a:p>
            <a:pPr algn="l">
              <a:spcAft>
                <a:spcPts val="800"/>
              </a:spcAft>
              <a:defRPr sz="1800" b="0">
                <a:solidFill>
                  <a:srgbClr val="64778A"/>
                </a:solidFill>
                <a:latin typeface="Aptos"/>
              </a:defRPr>
            </a:pPr>
            <a:r>
              <a:t>Free core planning; optional paid AI features.</a:t>
            </a:r>
          </a:p>
          <a:p>
            <a:pPr algn="l">
              <a:spcAft>
                <a:spcPts val="800"/>
              </a:spcAft>
              <a:defRPr sz="1800" b="0">
                <a:solidFill>
                  <a:srgbClr val="64778A"/>
                </a:solidFill>
                <a:latin typeface="Aptos"/>
              </a:defRPr>
            </a:pPr>
            <a:r>
              <a:t>Explore institutional plans after a campus pilot.</a:t>
            </a:r>
          </a:p>
        </p:txBody>
      </p:sp>
      <p:sp>
        <p:nvSpPr>
          <p:cNvPr id="17" name="Rounded Rectangle 16"/>
          <p:cNvSpPr/>
          <p:nvPr/>
        </p:nvSpPr>
        <p:spPr>
          <a:xfrm>
            <a:off x="6217920" y="3886200"/>
            <a:ext cx="5413248" cy="1901952"/>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37376" y="4087368"/>
            <a:ext cx="4974336" cy="594360"/>
          </a:xfrm>
          <a:prstGeom prst="rect">
            <a:avLst/>
          </a:prstGeom>
          <a:noFill/>
        </p:spPr>
        <p:txBody>
          <a:bodyPr wrap="square" lIns="0" rIns="0" tIns="0" bIns="0">
            <a:spAutoFit/>
          </a:bodyPr>
          <a:lstStyle/>
          <a:p>
            <a:pPr algn="l">
              <a:spcAft>
                <a:spcPts val="800"/>
              </a:spcAft>
              <a:defRPr sz="2200" b="1">
                <a:solidFill>
                  <a:srgbClr val="172B46"/>
                </a:solidFill>
                <a:latin typeface="Aptos"/>
              </a:defRPr>
            </a:pPr>
            <a:r>
              <a:t>Costs &amp; success measures</a:t>
            </a:r>
          </a:p>
        </p:txBody>
      </p:sp>
      <p:sp>
        <p:nvSpPr>
          <p:cNvPr id="19" name="TextBox 18"/>
          <p:cNvSpPr txBox="1"/>
          <p:nvPr/>
        </p:nvSpPr>
        <p:spPr>
          <a:xfrm>
            <a:off x="6437376" y="4690872"/>
            <a:ext cx="4974336" cy="969264"/>
          </a:xfrm>
          <a:prstGeom prst="rect">
            <a:avLst/>
          </a:prstGeom>
          <a:noFill/>
        </p:spPr>
        <p:txBody>
          <a:bodyPr wrap="square" lIns="0" rIns="0" tIns="0" bIns="0">
            <a:spAutoFit/>
          </a:bodyPr>
          <a:lstStyle/>
          <a:p>
            <a:pPr algn="l">
              <a:spcAft>
                <a:spcPts val="800"/>
              </a:spcAft>
              <a:defRPr sz="1800" b="0">
                <a:solidFill>
                  <a:srgbClr val="64778A"/>
                </a:solidFill>
                <a:latin typeface="Aptos"/>
              </a:defRPr>
            </a:pPr>
            <a:r>
              <a:t>AI usage, support and future hosting costs.</a:t>
            </a:r>
          </a:p>
          <a:p>
            <a:pPr algn="l">
              <a:spcAft>
                <a:spcPts val="800"/>
              </a:spcAft>
              <a:defRPr sz="1800" b="0">
                <a:solidFill>
                  <a:srgbClr val="64778A"/>
                </a:solidFill>
                <a:latin typeface="Aptos"/>
              </a:defRPr>
            </a:pPr>
            <a:r>
              <a:t>Track retention, task completion and cost per user.</a:t>
            </a:r>
          </a:p>
        </p:txBody>
      </p:sp>
      <p:sp>
        <p:nvSpPr>
          <p:cNvPr id="20" name="TextBox 19"/>
          <p:cNvSpPr txBox="1"/>
          <p:nvPr/>
        </p:nvSpPr>
        <p:spPr>
          <a:xfrm>
            <a:off x="594360" y="6071616"/>
            <a:ext cx="10972800" cy="201168"/>
          </a:xfrm>
          <a:prstGeom prst="rect">
            <a:avLst/>
          </a:prstGeom>
          <a:noFill/>
        </p:spPr>
        <p:txBody>
          <a:bodyPr wrap="square" lIns="0" rIns="0" tIns="0" bIns="0">
            <a:spAutoFit/>
          </a:bodyPr>
          <a:lstStyle/>
          <a:p>
            <a:pPr algn="l">
              <a:spcAft>
                <a:spcPts val="800"/>
              </a:spcAft>
              <a:defRPr sz="1100" b="1">
                <a:solidFill>
                  <a:srgbClr val="087F8C"/>
                </a:solidFill>
                <a:latin typeface="Aptos"/>
              </a:defRPr>
            </a:pPr>
            <a:r>
              <a:t>Proposed roadmap: pricing, subscriptions, institutional plans and analytics are not implemented.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0972800" cy="256032"/>
          </a:xfrm>
          <a:prstGeom prst="rect">
            <a:avLst/>
          </a:prstGeom>
          <a:noFill/>
        </p:spPr>
        <p:txBody>
          <a:bodyPr wrap="square" lIns="0" rIns="0" tIns="0" bIns="0">
            <a:spAutoFit/>
          </a:bodyPr>
          <a:lstStyle/>
          <a:p>
            <a:pPr algn="l">
              <a:spcAft>
                <a:spcPts val="800"/>
              </a:spcAft>
              <a:defRPr sz="1100" b="1">
                <a:solidFill>
                  <a:srgbClr val="087F8C"/>
                </a:solidFill>
                <a:latin typeface="Aptos"/>
              </a:defRPr>
            </a:pPr>
            <a:r>
              <a:t>PROPOSED SOLUTION &amp; MAJOR MODULES</a:t>
            </a:r>
          </a:p>
        </p:txBody>
      </p:sp>
      <p:sp>
        <p:nvSpPr>
          <p:cNvPr id="4" name="TextBox 3"/>
          <p:cNvSpPr txBox="1"/>
          <p:nvPr/>
        </p:nvSpPr>
        <p:spPr>
          <a:xfrm>
            <a:off x="502920" y="777240"/>
            <a:ext cx="10972800" cy="640080"/>
          </a:xfrm>
          <a:prstGeom prst="rect">
            <a:avLst/>
          </a:prstGeom>
          <a:noFill/>
        </p:spPr>
        <p:txBody>
          <a:bodyPr wrap="square" lIns="0" rIns="0" tIns="0" bIns="0">
            <a:spAutoFit/>
          </a:bodyPr>
          <a:lstStyle/>
          <a:p>
            <a:pPr algn="l">
              <a:spcAft>
                <a:spcPts val="800"/>
              </a:spcAft>
              <a:defRPr sz="3200" b="1">
                <a:solidFill>
                  <a:srgbClr val="172B46"/>
                </a:solidFill>
                <a:latin typeface="Aptos"/>
              </a:defRPr>
            </a:pPr>
            <a:r>
              <a:t>One app, six connected preparation modules</a:t>
            </a:r>
          </a:p>
        </p:txBody>
      </p:sp>
      <p:sp>
        <p:nvSpPr>
          <p:cNvPr id="5" name="Rectangle 4"/>
          <p:cNvSpPr/>
          <p:nvPr/>
        </p:nvSpPr>
        <p:spPr>
          <a:xfrm>
            <a:off x="502920" y="6391656"/>
            <a:ext cx="11155680" cy="10972"/>
          </a:xfrm>
          <a:prstGeom prst="rect">
            <a:avLst/>
          </a:prstGeom>
          <a:solidFill>
            <a:srgbClr val="D7E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10528"/>
            <a:ext cx="10058400" cy="182880"/>
          </a:xfrm>
          <a:prstGeom prst="rect">
            <a:avLst/>
          </a:prstGeom>
          <a:noFill/>
        </p:spPr>
        <p:txBody>
          <a:bodyPr wrap="square" lIns="0" rIns="0" tIns="0" bIns="0">
            <a:spAutoFit/>
          </a:bodyPr>
          <a:lstStyle/>
          <a:p>
            <a:pPr algn="l">
              <a:spcAft>
                <a:spcPts val="800"/>
              </a:spcAft>
              <a:defRPr sz="900" b="0">
                <a:solidFill>
                  <a:srgbClr val="64778A"/>
                </a:solidFill>
                <a:latin typeface="Aptos"/>
              </a:defRPr>
            </a:pPr>
            <a:r>
              <a:t>PLACEMENT COMPANION   /   MOBILE APPLICATION DEVELOPMENT LABORATORY</a:t>
            </a:r>
          </a:p>
        </p:txBody>
      </p:sp>
      <p:sp>
        <p:nvSpPr>
          <p:cNvPr id="7" name="TextBox 6"/>
          <p:cNvSpPr txBox="1"/>
          <p:nvPr/>
        </p:nvSpPr>
        <p:spPr>
          <a:xfrm>
            <a:off x="11018520" y="6473952"/>
            <a:ext cx="640080" cy="256032"/>
          </a:xfrm>
          <a:prstGeom prst="rect">
            <a:avLst/>
          </a:prstGeom>
          <a:noFill/>
        </p:spPr>
        <p:txBody>
          <a:bodyPr wrap="square" lIns="0" rIns="0" tIns="0" bIns="0">
            <a:spAutoFit/>
          </a:bodyPr>
          <a:lstStyle/>
          <a:p>
            <a:pPr algn="r">
              <a:spcAft>
                <a:spcPts val="800"/>
              </a:spcAft>
              <a:defRPr sz="1000" b="1">
                <a:solidFill>
                  <a:srgbClr val="64778A"/>
                </a:solidFill>
                <a:latin typeface="Aptos"/>
              </a:defRPr>
            </a:pPr>
            <a:r>
              <a:t>05 / 12</a:t>
            </a:r>
          </a:p>
        </p:txBody>
      </p:sp>
      <p:sp>
        <p:nvSpPr>
          <p:cNvPr id="8" name="Rounded Rectangle 7"/>
          <p:cNvSpPr/>
          <p:nvPr/>
        </p:nvSpPr>
        <p:spPr>
          <a:xfrm>
            <a:off x="548640" y="1764792"/>
            <a:ext cx="3538728" cy="1901952"/>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947672"/>
            <a:ext cx="3099816" cy="301752"/>
          </a:xfrm>
          <a:prstGeom prst="rect">
            <a:avLst/>
          </a:prstGeom>
          <a:noFill/>
        </p:spPr>
        <p:txBody>
          <a:bodyPr wrap="square" lIns="0" rIns="0" tIns="0" bIns="0">
            <a:spAutoFit/>
          </a:bodyPr>
          <a:lstStyle/>
          <a:p>
            <a:pPr algn="l">
              <a:spcAft>
                <a:spcPts val="800"/>
              </a:spcAft>
              <a:defRPr sz="1200" b="1">
                <a:solidFill>
                  <a:srgbClr val="087F8C"/>
                </a:solidFill>
                <a:latin typeface="Aptos"/>
              </a:defRPr>
            </a:pPr>
            <a:r>
              <a:t>01</a:t>
            </a:r>
          </a:p>
        </p:txBody>
      </p:sp>
      <p:sp>
        <p:nvSpPr>
          <p:cNvPr id="10" name="TextBox 9"/>
          <p:cNvSpPr txBox="1"/>
          <p:nvPr/>
        </p:nvSpPr>
        <p:spPr>
          <a:xfrm>
            <a:off x="768096" y="2331720"/>
            <a:ext cx="3099816" cy="594360"/>
          </a:xfrm>
          <a:prstGeom prst="rect">
            <a:avLst/>
          </a:prstGeom>
          <a:noFill/>
        </p:spPr>
        <p:txBody>
          <a:bodyPr wrap="square" lIns="0" rIns="0" tIns="0" bIns="0">
            <a:spAutoFit/>
          </a:bodyPr>
          <a:lstStyle/>
          <a:p>
            <a:pPr algn="l">
              <a:spcAft>
                <a:spcPts val="800"/>
              </a:spcAft>
              <a:defRPr sz="2200" b="1">
                <a:solidFill>
                  <a:srgbClr val="172B46"/>
                </a:solidFill>
                <a:latin typeface="Aptos"/>
              </a:defRPr>
            </a:pPr>
            <a:r>
              <a:t>Personalization</a:t>
            </a:r>
          </a:p>
        </p:txBody>
      </p:sp>
      <p:sp>
        <p:nvSpPr>
          <p:cNvPr id="11" name="TextBox 10"/>
          <p:cNvSpPr txBox="1"/>
          <p:nvPr/>
        </p:nvSpPr>
        <p:spPr>
          <a:xfrm>
            <a:off x="768096" y="2935224"/>
            <a:ext cx="3099816" cy="603504"/>
          </a:xfrm>
          <a:prstGeom prst="rect">
            <a:avLst/>
          </a:prstGeom>
          <a:noFill/>
        </p:spPr>
        <p:txBody>
          <a:bodyPr wrap="square" lIns="0" rIns="0" tIns="0" bIns="0">
            <a:spAutoFit/>
          </a:bodyPr>
          <a:lstStyle/>
          <a:p>
            <a:pPr algn="l">
              <a:spcAft>
                <a:spcPts val="800"/>
              </a:spcAft>
              <a:defRPr sz="1800" b="0">
                <a:solidFill>
                  <a:srgbClr val="64778A"/>
                </a:solidFill>
                <a:latin typeface="Aptos"/>
              </a:defRPr>
            </a:pPr>
            <a:r>
              <a:t>Target role, subjects and daily study hours.</a:t>
            </a:r>
          </a:p>
        </p:txBody>
      </p:sp>
      <p:sp>
        <p:nvSpPr>
          <p:cNvPr id="12" name="Rounded Rectangle 11"/>
          <p:cNvSpPr/>
          <p:nvPr/>
        </p:nvSpPr>
        <p:spPr>
          <a:xfrm>
            <a:off x="4315968" y="1764792"/>
            <a:ext cx="3538728" cy="1901952"/>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35424" y="1947672"/>
            <a:ext cx="3099816" cy="301752"/>
          </a:xfrm>
          <a:prstGeom prst="rect">
            <a:avLst/>
          </a:prstGeom>
          <a:noFill/>
        </p:spPr>
        <p:txBody>
          <a:bodyPr wrap="square" lIns="0" rIns="0" tIns="0" bIns="0">
            <a:spAutoFit/>
          </a:bodyPr>
          <a:lstStyle/>
          <a:p>
            <a:pPr algn="l">
              <a:spcAft>
                <a:spcPts val="800"/>
              </a:spcAft>
              <a:defRPr sz="1200" b="1">
                <a:solidFill>
                  <a:srgbClr val="087F8C"/>
                </a:solidFill>
                <a:latin typeface="Aptos"/>
              </a:defRPr>
            </a:pPr>
            <a:r>
              <a:t>02</a:t>
            </a:r>
          </a:p>
        </p:txBody>
      </p:sp>
      <p:sp>
        <p:nvSpPr>
          <p:cNvPr id="14" name="TextBox 13"/>
          <p:cNvSpPr txBox="1"/>
          <p:nvPr/>
        </p:nvSpPr>
        <p:spPr>
          <a:xfrm>
            <a:off x="4535424" y="2331720"/>
            <a:ext cx="3099816" cy="594360"/>
          </a:xfrm>
          <a:prstGeom prst="rect">
            <a:avLst/>
          </a:prstGeom>
          <a:noFill/>
        </p:spPr>
        <p:txBody>
          <a:bodyPr wrap="square" lIns="0" rIns="0" tIns="0" bIns="0">
            <a:spAutoFit/>
          </a:bodyPr>
          <a:lstStyle/>
          <a:p>
            <a:pPr algn="l">
              <a:spcAft>
                <a:spcPts val="800"/>
              </a:spcAft>
              <a:defRPr sz="2200" b="1">
                <a:solidFill>
                  <a:srgbClr val="172B46"/>
                </a:solidFill>
                <a:latin typeface="Aptos"/>
              </a:defRPr>
            </a:pPr>
            <a:r>
              <a:t>Study planning</a:t>
            </a:r>
          </a:p>
        </p:txBody>
      </p:sp>
      <p:sp>
        <p:nvSpPr>
          <p:cNvPr id="15" name="TextBox 14"/>
          <p:cNvSpPr txBox="1"/>
          <p:nvPr/>
        </p:nvSpPr>
        <p:spPr>
          <a:xfrm>
            <a:off x="4535424" y="2935224"/>
            <a:ext cx="3099816" cy="603504"/>
          </a:xfrm>
          <a:prstGeom prst="rect">
            <a:avLst/>
          </a:prstGeom>
          <a:noFill/>
        </p:spPr>
        <p:txBody>
          <a:bodyPr wrap="square" lIns="0" rIns="0" tIns="0" bIns="0">
            <a:spAutoFit/>
          </a:bodyPr>
          <a:lstStyle/>
          <a:p>
            <a:pPr algn="l">
              <a:spcAft>
                <a:spcPts val="800"/>
              </a:spcAft>
              <a:defRPr sz="1800" b="0">
                <a:solidFill>
                  <a:srgbClr val="64778A"/>
                </a:solidFill>
                <a:latin typeface="Aptos"/>
              </a:defRPr>
            </a:pPr>
            <a:r>
              <a:t>Tasks, timetable and completion tracking.</a:t>
            </a:r>
          </a:p>
        </p:txBody>
      </p:sp>
      <p:sp>
        <p:nvSpPr>
          <p:cNvPr id="16" name="Rounded Rectangle 15"/>
          <p:cNvSpPr/>
          <p:nvPr/>
        </p:nvSpPr>
        <p:spPr>
          <a:xfrm>
            <a:off x="8083296" y="1764792"/>
            <a:ext cx="3538728" cy="1901952"/>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02752" y="1947672"/>
            <a:ext cx="3099816" cy="301752"/>
          </a:xfrm>
          <a:prstGeom prst="rect">
            <a:avLst/>
          </a:prstGeom>
          <a:noFill/>
        </p:spPr>
        <p:txBody>
          <a:bodyPr wrap="square" lIns="0" rIns="0" tIns="0" bIns="0">
            <a:spAutoFit/>
          </a:bodyPr>
          <a:lstStyle/>
          <a:p>
            <a:pPr algn="l">
              <a:spcAft>
                <a:spcPts val="800"/>
              </a:spcAft>
              <a:defRPr sz="1200" b="1">
                <a:solidFill>
                  <a:srgbClr val="087F8C"/>
                </a:solidFill>
                <a:latin typeface="Aptos"/>
              </a:defRPr>
            </a:pPr>
            <a:r>
              <a:t>03</a:t>
            </a:r>
          </a:p>
        </p:txBody>
      </p:sp>
      <p:sp>
        <p:nvSpPr>
          <p:cNvPr id="18" name="TextBox 17"/>
          <p:cNvSpPr txBox="1"/>
          <p:nvPr/>
        </p:nvSpPr>
        <p:spPr>
          <a:xfrm>
            <a:off x="8302752" y="2331720"/>
            <a:ext cx="3099816" cy="594360"/>
          </a:xfrm>
          <a:prstGeom prst="rect">
            <a:avLst/>
          </a:prstGeom>
          <a:noFill/>
        </p:spPr>
        <p:txBody>
          <a:bodyPr wrap="square" lIns="0" rIns="0" tIns="0" bIns="0">
            <a:spAutoFit/>
          </a:bodyPr>
          <a:lstStyle/>
          <a:p>
            <a:pPr algn="l">
              <a:spcAft>
                <a:spcPts val="800"/>
              </a:spcAft>
              <a:defRPr sz="2200" b="1">
                <a:solidFill>
                  <a:srgbClr val="172B46"/>
                </a:solidFill>
                <a:latin typeface="Aptos"/>
              </a:defRPr>
            </a:pPr>
            <a:r>
              <a:t>Company preparation</a:t>
            </a:r>
          </a:p>
        </p:txBody>
      </p:sp>
      <p:sp>
        <p:nvSpPr>
          <p:cNvPr id="19" name="TextBox 18"/>
          <p:cNvSpPr txBox="1"/>
          <p:nvPr/>
        </p:nvSpPr>
        <p:spPr>
          <a:xfrm>
            <a:off x="8302752" y="2935224"/>
            <a:ext cx="3099816" cy="603504"/>
          </a:xfrm>
          <a:prstGeom prst="rect">
            <a:avLst/>
          </a:prstGeom>
          <a:noFill/>
        </p:spPr>
        <p:txBody>
          <a:bodyPr wrap="square" lIns="0" rIns="0" tIns="0" bIns="0">
            <a:spAutoFit/>
          </a:bodyPr>
          <a:lstStyle/>
          <a:p>
            <a:pPr algn="l">
              <a:spcAft>
                <a:spcPts val="800"/>
              </a:spcAft>
              <a:defRPr sz="1800" b="0">
                <a:solidFill>
                  <a:srgbClr val="64778A"/>
                </a:solidFill>
                <a:latin typeface="Aptos"/>
              </a:defRPr>
            </a:pPr>
            <a:r>
              <a:t>Companies, PYQs and interview experiences.</a:t>
            </a:r>
          </a:p>
        </p:txBody>
      </p:sp>
      <p:sp>
        <p:nvSpPr>
          <p:cNvPr id="20" name="Rounded Rectangle 19"/>
          <p:cNvSpPr/>
          <p:nvPr/>
        </p:nvSpPr>
        <p:spPr>
          <a:xfrm>
            <a:off x="548640" y="3867911"/>
            <a:ext cx="3538728" cy="1901952"/>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8096" y="4050791"/>
            <a:ext cx="3099816" cy="301752"/>
          </a:xfrm>
          <a:prstGeom prst="rect">
            <a:avLst/>
          </a:prstGeom>
          <a:noFill/>
        </p:spPr>
        <p:txBody>
          <a:bodyPr wrap="square" lIns="0" rIns="0" tIns="0" bIns="0">
            <a:spAutoFit/>
          </a:bodyPr>
          <a:lstStyle/>
          <a:p>
            <a:pPr algn="l">
              <a:spcAft>
                <a:spcPts val="800"/>
              </a:spcAft>
              <a:defRPr sz="1200" b="1">
                <a:solidFill>
                  <a:srgbClr val="087F8C"/>
                </a:solidFill>
                <a:latin typeface="Aptos"/>
              </a:defRPr>
            </a:pPr>
            <a:r>
              <a:t>04</a:t>
            </a:r>
          </a:p>
        </p:txBody>
      </p:sp>
      <p:sp>
        <p:nvSpPr>
          <p:cNvPr id="22" name="TextBox 21"/>
          <p:cNvSpPr txBox="1"/>
          <p:nvPr/>
        </p:nvSpPr>
        <p:spPr>
          <a:xfrm>
            <a:off x="768096" y="4434840"/>
            <a:ext cx="3099816" cy="594360"/>
          </a:xfrm>
          <a:prstGeom prst="rect">
            <a:avLst/>
          </a:prstGeom>
          <a:noFill/>
        </p:spPr>
        <p:txBody>
          <a:bodyPr wrap="square" lIns="0" rIns="0" tIns="0" bIns="0">
            <a:spAutoFit/>
          </a:bodyPr>
          <a:lstStyle/>
          <a:p>
            <a:pPr algn="l">
              <a:spcAft>
                <a:spcPts val="800"/>
              </a:spcAft>
              <a:defRPr sz="2200" b="1">
                <a:solidFill>
                  <a:srgbClr val="172B46"/>
                </a:solidFill>
                <a:latin typeface="Aptos"/>
              </a:defRPr>
            </a:pPr>
            <a:r>
              <a:t>Study material</a:t>
            </a:r>
          </a:p>
        </p:txBody>
      </p:sp>
      <p:sp>
        <p:nvSpPr>
          <p:cNvPr id="23" name="TextBox 22"/>
          <p:cNvSpPr txBox="1"/>
          <p:nvPr/>
        </p:nvSpPr>
        <p:spPr>
          <a:xfrm>
            <a:off x="768096" y="5038344"/>
            <a:ext cx="3099816" cy="603503"/>
          </a:xfrm>
          <a:prstGeom prst="rect">
            <a:avLst/>
          </a:prstGeom>
          <a:noFill/>
        </p:spPr>
        <p:txBody>
          <a:bodyPr wrap="square" lIns="0" rIns="0" tIns="0" bIns="0">
            <a:spAutoFit/>
          </a:bodyPr>
          <a:lstStyle/>
          <a:p>
            <a:pPr algn="l">
              <a:spcAft>
                <a:spcPts val="800"/>
              </a:spcAft>
              <a:defRPr sz="1800" b="0">
                <a:solidFill>
                  <a:srgbClr val="64778A"/>
                </a:solidFill>
                <a:latin typeface="Aptos"/>
              </a:defRPr>
            </a:pPr>
            <a:r>
              <a:t>Notes, resources, search and bookmarks.</a:t>
            </a:r>
          </a:p>
        </p:txBody>
      </p:sp>
      <p:sp>
        <p:nvSpPr>
          <p:cNvPr id="24" name="Rounded Rectangle 23"/>
          <p:cNvSpPr/>
          <p:nvPr/>
        </p:nvSpPr>
        <p:spPr>
          <a:xfrm>
            <a:off x="4315968" y="3867911"/>
            <a:ext cx="3538728" cy="1901952"/>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35424" y="4050791"/>
            <a:ext cx="3099816" cy="301752"/>
          </a:xfrm>
          <a:prstGeom prst="rect">
            <a:avLst/>
          </a:prstGeom>
          <a:noFill/>
        </p:spPr>
        <p:txBody>
          <a:bodyPr wrap="square" lIns="0" rIns="0" tIns="0" bIns="0">
            <a:spAutoFit/>
          </a:bodyPr>
          <a:lstStyle/>
          <a:p>
            <a:pPr algn="l">
              <a:spcAft>
                <a:spcPts val="800"/>
              </a:spcAft>
              <a:defRPr sz="1200" b="1">
                <a:solidFill>
                  <a:srgbClr val="087F8C"/>
                </a:solidFill>
                <a:latin typeface="Aptos"/>
              </a:defRPr>
            </a:pPr>
            <a:r>
              <a:t>05</a:t>
            </a:r>
          </a:p>
        </p:txBody>
      </p:sp>
      <p:sp>
        <p:nvSpPr>
          <p:cNvPr id="26" name="TextBox 25"/>
          <p:cNvSpPr txBox="1"/>
          <p:nvPr/>
        </p:nvSpPr>
        <p:spPr>
          <a:xfrm>
            <a:off x="4535424" y="4434840"/>
            <a:ext cx="3099816" cy="594360"/>
          </a:xfrm>
          <a:prstGeom prst="rect">
            <a:avLst/>
          </a:prstGeom>
          <a:noFill/>
        </p:spPr>
        <p:txBody>
          <a:bodyPr wrap="square" lIns="0" rIns="0" tIns="0" bIns="0">
            <a:spAutoFit/>
          </a:bodyPr>
          <a:lstStyle/>
          <a:p>
            <a:pPr algn="l">
              <a:spcAft>
                <a:spcPts val="800"/>
              </a:spcAft>
              <a:defRPr sz="2200" b="1">
                <a:solidFill>
                  <a:srgbClr val="172B46"/>
                </a:solidFill>
                <a:latin typeface="Aptos"/>
              </a:defRPr>
            </a:pPr>
            <a:r>
              <a:t>AI assistance</a:t>
            </a:r>
          </a:p>
        </p:txBody>
      </p:sp>
      <p:sp>
        <p:nvSpPr>
          <p:cNvPr id="27" name="TextBox 26"/>
          <p:cNvSpPr txBox="1"/>
          <p:nvPr/>
        </p:nvSpPr>
        <p:spPr>
          <a:xfrm>
            <a:off x="4535424" y="5038344"/>
            <a:ext cx="3099816" cy="603503"/>
          </a:xfrm>
          <a:prstGeom prst="rect">
            <a:avLst/>
          </a:prstGeom>
          <a:noFill/>
        </p:spPr>
        <p:txBody>
          <a:bodyPr wrap="square" lIns="0" rIns="0" tIns="0" bIns="0">
            <a:spAutoFit/>
          </a:bodyPr>
          <a:lstStyle/>
          <a:p>
            <a:pPr algn="l">
              <a:spcAft>
                <a:spcPts val="800"/>
              </a:spcAft>
              <a:defRPr sz="1800" b="0">
                <a:solidFill>
                  <a:srgbClr val="64778A"/>
                </a:solidFill>
                <a:latin typeface="Aptos"/>
              </a:defRPr>
            </a:pPr>
            <a:r>
              <a:t>Roadmaps, doubt answers and interview feedback.</a:t>
            </a:r>
          </a:p>
        </p:txBody>
      </p:sp>
      <p:sp>
        <p:nvSpPr>
          <p:cNvPr id="28" name="Rounded Rectangle 27"/>
          <p:cNvSpPr/>
          <p:nvPr/>
        </p:nvSpPr>
        <p:spPr>
          <a:xfrm>
            <a:off x="8083296" y="3867911"/>
            <a:ext cx="3538728" cy="1901952"/>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02752" y="4050791"/>
            <a:ext cx="3099816" cy="301752"/>
          </a:xfrm>
          <a:prstGeom prst="rect">
            <a:avLst/>
          </a:prstGeom>
          <a:noFill/>
        </p:spPr>
        <p:txBody>
          <a:bodyPr wrap="square" lIns="0" rIns="0" tIns="0" bIns="0">
            <a:spAutoFit/>
          </a:bodyPr>
          <a:lstStyle/>
          <a:p>
            <a:pPr algn="l">
              <a:spcAft>
                <a:spcPts val="800"/>
              </a:spcAft>
              <a:defRPr sz="1200" b="1">
                <a:solidFill>
                  <a:srgbClr val="087F8C"/>
                </a:solidFill>
                <a:latin typeface="Aptos"/>
              </a:defRPr>
            </a:pPr>
            <a:r>
              <a:t>06</a:t>
            </a:r>
          </a:p>
        </p:txBody>
      </p:sp>
      <p:sp>
        <p:nvSpPr>
          <p:cNvPr id="30" name="TextBox 29"/>
          <p:cNvSpPr txBox="1"/>
          <p:nvPr/>
        </p:nvSpPr>
        <p:spPr>
          <a:xfrm>
            <a:off x="8302752" y="4434840"/>
            <a:ext cx="3099816" cy="594360"/>
          </a:xfrm>
          <a:prstGeom prst="rect">
            <a:avLst/>
          </a:prstGeom>
          <a:noFill/>
        </p:spPr>
        <p:txBody>
          <a:bodyPr wrap="square" lIns="0" rIns="0" tIns="0" bIns="0">
            <a:spAutoFit/>
          </a:bodyPr>
          <a:lstStyle/>
          <a:p>
            <a:pPr algn="l">
              <a:spcAft>
                <a:spcPts val="800"/>
              </a:spcAft>
              <a:defRPr sz="2200" b="1">
                <a:solidFill>
                  <a:srgbClr val="172B46"/>
                </a:solidFill>
                <a:latin typeface="Aptos"/>
              </a:defRPr>
            </a:pPr>
            <a:r>
              <a:t>Daily navigation</a:t>
            </a:r>
          </a:p>
        </p:txBody>
      </p:sp>
      <p:sp>
        <p:nvSpPr>
          <p:cNvPr id="31" name="TextBox 30"/>
          <p:cNvSpPr txBox="1"/>
          <p:nvPr/>
        </p:nvSpPr>
        <p:spPr>
          <a:xfrm>
            <a:off x="8302752" y="5038344"/>
            <a:ext cx="3099816" cy="603503"/>
          </a:xfrm>
          <a:prstGeom prst="rect">
            <a:avLst/>
          </a:prstGeom>
          <a:noFill/>
        </p:spPr>
        <p:txBody>
          <a:bodyPr wrap="square" lIns="0" rIns="0" tIns="0" bIns="0">
            <a:spAutoFit/>
          </a:bodyPr>
          <a:lstStyle/>
          <a:p>
            <a:pPr algn="l">
              <a:spcAft>
                <a:spcPts val="800"/>
              </a:spcAft>
              <a:defRPr sz="1800" b="0">
                <a:solidFill>
                  <a:srgbClr val="64778A"/>
                </a:solidFill>
                <a:latin typeface="Aptos"/>
              </a:defRPr>
            </a:pPr>
            <a:r>
              <a:t>Home, calendar and profile access.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0972800" cy="256032"/>
          </a:xfrm>
          <a:prstGeom prst="rect">
            <a:avLst/>
          </a:prstGeom>
          <a:noFill/>
        </p:spPr>
        <p:txBody>
          <a:bodyPr wrap="square" lIns="0" rIns="0" tIns="0" bIns="0">
            <a:spAutoFit/>
          </a:bodyPr>
          <a:lstStyle/>
          <a:p>
            <a:pPr algn="l">
              <a:spcAft>
                <a:spcPts val="800"/>
              </a:spcAft>
              <a:defRPr sz="1100" b="1">
                <a:solidFill>
                  <a:srgbClr val="087F8C"/>
                </a:solidFill>
                <a:latin typeface="Aptos"/>
              </a:defRPr>
            </a:pPr>
            <a:r>
              <a:t>PROJECT TECH STACK DETAILS</a:t>
            </a:r>
          </a:p>
        </p:txBody>
      </p:sp>
      <p:sp>
        <p:nvSpPr>
          <p:cNvPr id="4" name="TextBox 3"/>
          <p:cNvSpPr txBox="1"/>
          <p:nvPr/>
        </p:nvSpPr>
        <p:spPr>
          <a:xfrm>
            <a:off x="502920" y="777240"/>
            <a:ext cx="10972800" cy="640080"/>
          </a:xfrm>
          <a:prstGeom prst="rect">
            <a:avLst/>
          </a:prstGeom>
          <a:noFill/>
        </p:spPr>
        <p:txBody>
          <a:bodyPr wrap="square" lIns="0" rIns="0" tIns="0" bIns="0">
            <a:spAutoFit/>
          </a:bodyPr>
          <a:lstStyle/>
          <a:p>
            <a:pPr algn="l">
              <a:spcAft>
                <a:spcPts val="800"/>
              </a:spcAft>
              <a:defRPr sz="3200" b="1">
                <a:solidFill>
                  <a:srgbClr val="172B46"/>
                </a:solidFill>
                <a:latin typeface="Aptos"/>
              </a:defRPr>
            </a:pPr>
            <a:r>
              <a:t>What each technology contributes to the app</a:t>
            </a:r>
          </a:p>
        </p:txBody>
      </p:sp>
      <p:sp>
        <p:nvSpPr>
          <p:cNvPr id="5" name="Rectangle 4"/>
          <p:cNvSpPr/>
          <p:nvPr/>
        </p:nvSpPr>
        <p:spPr>
          <a:xfrm>
            <a:off x="502920" y="6391656"/>
            <a:ext cx="11155680" cy="10972"/>
          </a:xfrm>
          <a:prstGeom prst="rect">
            <a:avLst/>
          </a:prstGeom>
          <a:solidFill>
            <a:srgbClr val="D7E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10528"/>
            <a:ext cx="10058400" cy="182880"/>
          </a:xfrm>
          <a:prstGeom prst="rect">
            <a:avLst/>
          </a:prstGeom>
          <a:noFill/>
        </p:spPr>
        <p:txBody>
          <a:bodyPr wrap="square" lIns="0" rIns="0" tIns="0" bIns="0">
            <a:spAutoFit/>
          </a:bodyPr>
          <a:lstStyle/>
          <a:p>
            <a:pPr algn="l">
              <a:spcAft>
                <a:spcPts val="800"/>
              </a:spcAft>
              <a:defRPr sz="900" b="0">
                <a:solidFill>
                  <a:srgbClr val="64778A"/>
                </a:solidFill>
                <a:latin typeface="Aptos"/>
              </a:defRPr>
            </a:pPr>
            <a:r>
              <a:t>PLACEMENT COMPANION   /   MOBILE APPLICATION DEVELOPMENT LABORATORY</a:t>
            </a:r>
          </a:p>
        </p:txBody>
      </p:sp>
      <p:sp>
        <p:nvSpPr>
          <p:cNvPr id="7" name="TextBox 6"/>
          <p:cNvSpPr txBox="1"/>
          <p:nvPr/>
        </p:nvSpPr>
        <p:spPr>
          <a:xfrm>
            <a:off x="11018520" y="6473952"/>
            <a:ext cx="640080" cy="256032"/>
          </a:xfrm>
          <a:prstGeom prst="rect">
            <a:avLst/>
          </a:prstGeom>
          <a:noFill/>
        </p:spPr>
        <p:txBody>
          <a:bodyPr wrap="square" lIns="0" rIns="0" tIns="0" bIns="0">
            <a:spAutoFit/>
          </a:bodyPr>
          <a:lstStyle/>
          <a:p>
            <a:pPr algn="r">
              <a:spcAft>
                <a:spcPts val="800"/>
              </a:spcAft>
              <a:defRPr sz="1000" b="1">
                <a:solidFill>
                  <a:srgbClr val="64778A"/>
                </a:solidFill>
                <a:latin typeface="Aptos"/>
              </a:defRPr>
            </a:pPr>
            <a:r>
              <a:t>06 / 12</a:t>
            </a:r>
          </a:p>
        </p:txBody>
      </p:sp>
      <p:sp>
        <p:nvSpPr>
          <p:cNvPr id="8" name="Rounded Rectangle 7"/>
          <p:cNvSpPr/>
          <p:nvPr/>
        </p:nvSpPr>
        <p:spPr>
          <a:xfrm>
            <a:off x="566928" y="1746504"/>
            <a:ext cx="11045952" cy="548640"/>
          </a:xfrm>
          <a:prstGeom prst="roundRect">
            <a:avLst>
              <a:gd name="adj" fmla="val 12000"/>
            </a:avLst>
          </a:prstGeom>
          <a:solidFill>
            <a:srgbClr val="17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901952"/>
            <a:ext cx="1883664" cy="256032"/>
          </a:xfrm>
          <a:prstGeom prst="rect">
            <a:avLst/>
          </a:prstGeom>
          <a:noFill/>
        </p:spPr>
        <p:txBody>
          <a:bodyPr wrap="square" lIns="0" rIns="0" tIns="0" bIns="0">
            <a:spAutoFit/>
          </a:bodyPr>
          <a:lstStyle/>
          <a:p>
            <a:pPr algn="l">
              <a:spcAft>
                <a:spcPts val="800"/>
              </a:spcAft>
              <a:defRPr sz="1300" b="1">
                <a:solidFill>
                  <a:srgbClr val="FFFFFF"/>
                </a:solidFill>
                <a:latin typeface="Aptos"/>
              </a:defRPr>
            </a:pPr>
            <a:r>
              <a:t>LAYER</a:t>
            </a:r>
          </a:p>
        </p:txBody>
      </p:sp>
      <p:sp>
        <p:nvSpPr>
          <p:cNvPr id="10" name="TextBox 9"/>
          <p:cNvSpPr txBox="1"/>
          <p:nvPr/>
        </p:nvSpPr>
        <p:spPr>
          <a:xfrm>
            <a:off x="2944368" y="1901952"/>
            <a:ext cx="3803903" cy="256032"/>
          </a:xfrm>
          <a:prstGeom prst="rect">
            <a:avLst/>
          </a:prstGeom>
          <a:noFill/>
        </p:spPr>
        <p:txBody>
          <a:bodyPr wrap="square" lIns="0" rIns="0" tIns="0" bIns="0">
            <a:spAutoFit/>
          </a:bodyPr>
          <a:lstStyle/>
          <a:p>
            <a:pPr algn="l">
              <a:spcAft>
                <a:spcPts val="800"/>
              </a:spcAft>
              <a:defRPr sz="1300" b="1">
                <a:solidFill>
                  <a:srgbClr val="FFFFFF"/>
                </a:solidFill>
                <a:latin typeface="Aptos"/>
              </a:defRPr>
            </a:pPr>
            <a:r>
              <a:t>TECHNOLOGY / TOOL</a:t>
            </a:r>
          </a:p>
        </p:txBody>
      </p:sp>
      <p:sp>
        <p:nvSpPr>
          <p:cNvPr id="11" name="TextBox 10"/>
          <p:cNvSpPr txBox="1"/>
          <p:nvPr/>
        </p:nvSpPr>
        <p:spPr>
          <a:xfrm>
            <a:off x="7077455" y="1901952"/>
            <a:ext cx="4370831" cy="256032"/>
          </a:xfrm>
          <a:prstGeom prst="rect">
            <a:avLst/>
          </a:prstGeom>
          <a:noFill/>
        </p:spPr>
        <p:txBody>
          <a:bodyPr wrap="square" lIns="0" rIns="0" tIns="0" bIns="0">
            <a:spAutoFit/>
          </a:bodyPr>
          <a:lstStyle/>
          <a:p>
            <a:pPr algn="l">
              <a:spcAft>
                <a:spcPts val="800"/>
              </a:spcAft>
              <a:defRPr sz="1300" b="1">
                <a:solidFill>
                  <a:srgbClr val="FFFFFF"/>
                </a:solidFill>
                <a:latin typeface="Aptos"/>
              </a:defRPr>
            </a:pPr>
            <a:r>
              <a:t>ROLE IN THIS PROJECT</a:t>
            </a:r>
          </a:p>
        </p:txBody>
      </p:sp>
      <p:sp>
        <p:nvSpPr>
          <p:cNvPr id="12" name="Rounded Rectangle 11"/>
          <p:cNvSpPr/>
          <p:nvPr/>
        </p:nvSpPr>
        <p:spPr>
          <a:xfrm>
            <a:off x="566928" y="2368296"/>
            <a:ext cx="11045952" cy="4572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487168"/>
            <a:ext cx="1883664" cy="292608"/>
          </a:xfrm>
          <a:prstGeom prst="rect">
            <a:avLst/>
          </a:prstGeom>
          <a:noFill/>
        </p:spPr>
        <p:txBody>
          <a:bodyPr wrap="square" lIns="0" rIns="0" tIns="0" bIns="0">
            <a:spAutoFit/>
          </a:bodyPr>
          <a:lstStyle/>
          <a:p>
            <a:pPr algn="l">
              <a:spcAft>
                <a:spcPts val="800"/>
              </a:spcAft>
              <a:defRPr sz="1500" b="1">
                <a:solidFill>
                  <a:srgbClr val="172B46"/>
                </a:solidFill>
                <a:latin typeface="Aptos"/>
              </a:defRPr>
            </a:pPr>
            <a:r>
              <a:t>Language &amp; build</a:t>
            </a:r>
          </a:p>
        </p:txBody>
      </p:sp>
      <p:sp>
        <p:nvSpPr>
          <p:cNvPr id="14" name="TextBox 13"/>
          <p:cNvSpPr txBox="1"/>
          <p:nvPr/>
        </p:nvSpPr>
        <p:spPr>
          <a:xfrm>
            <a:off x="2944368" y="2487168"/>
            <a:ext cx="3803903" cy="292608"/>
          </a:xfrm>
          <a:prstGeom prst="rect">
            <a:avLst/>
          </a:prstGeom>
          <a:noFill/>
        </p:spPr>
        <p:txBody>
          <a:bodyPr wrap="square" lIns="0" rIns="0" tIns="0" bIns="0">
            <a:spAutoFit/>
          </a:bodyPr>
          <a:lstStyle/>
          <a:p>
            <a:pPr algn="l">
              <a:spcAft>
                <a:spcPts val="800"/>
              </a:spcAft>
              <a:defRPr sz="1500" b="0">
                <a:solidFill>
                  <a:srgbClr val="263C51"/>
                </a:solidFill>
                <a:latin typeface="Aptos"/>
              </a:defRPr>
            </a:pPr>
            <a:r>
              <a:t>Kotlin · Android Studio · Gradle</a:t>
            </a:r>
          </a:p>
        </p:txBody>
      </p:sp>
      <p:sp>
        <p:nvSpPr>
          <p:cNvPr id="15" name="TextBox 14"/>
          <p:cNvSpPr txBox="1"/>
          <p:nvPr/>
        </p:nvSpPr>
        <p:spPr>
          <a:xfrm>
            <a:off x="7077455" y="2487168"/>
            <a:ext cx="4370831" cy="292608"/>
          </a:xfrm>
          <a:prstGeom prst="rect">
            <a:avLst/>
          </a:prstGeom>
          <a:noFill/>
        </p:spPr>
        <p:txBody>
          <a:bodyPr wrap="square" lIns="0" rIns="0" tIns="0" bIns="0">
            <a:spAutoFit/>
          </a:bodyPr>
          <a:lstStyle/>
          <a:p>
            <a:pPr algn="l">
              <a:spcAft>
                <a:spcPts val="800"/>
              </a:spcAft>
              <a:defRPr sz="1500" b="0">
                <a:solidFill>
                  <a:srgbClr val="263C51"/>
                </a:solidFill>
                <a:latin typeface="Aptos"/>
              </a:defRPr>
            </a:pPr>
            <a:r>
              <a:t>Native Android code, builds and APK generation</a:t>
            </a:r>
          </a:p>
        </p:txBody>
      </p:sp>
      <p:sp>
        <p:nvSpPr>
          <p:cNvPr id="16" name="Rounded Rectangle 15"/>
          <p:cNvSpPr/>
          <p:nvPr/>
        </p:nvSpPr>
        <p:spPr>
          <a:xfrm>
            <a:off x="566928" y="2880360"/>
            <a:ext cx="11045952" cy="457200"/>
          </a:xfrm>
          <a:prstGeom prst="roundRect">
            <a:avLst>
              <a:gd name="adj" fmla="val 12000"/>
            </a:avLst>
          </a:prstGeom>
          <a:solidFill>
            <a:srgbClr val="E6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2999232"/>
            <a:ext cx="1883664" cy="292608"/>
          </a:xfrm>
          <a:prstGeom prst="rect">
            <a:avLst/>
          </a:prstGeom>
          <a:noFill/>
        </p:spPr>
        <p:txBody>
          <a:bodyPr wrap="square" lIns="0" rIns="0" tIns="0" bIns="0">
            <a:spAutoFit/>
          </a:bodyPr>
          <a:lstStyle/>
          <a:p>
            <a:pPr algn="l">
              <a:spcAft>
                <a:spcPts val="800"/>
              </a:spcAft>
              <a:defRPr sz="1500" b="1">
                <a:solidFill>
                  <a:srgbClr val="172B46"/>
                </a:solidFill>
                <a:latin typeface="Aptos"/>
              </a:defRPr>
            </a:pPr>
            <a:r>
              <a:t>UI &amp; navigation</a:t>
            </a:r>
          </a:p>
        </p:txBody>
      </p:sp>
      <p:sp>
        <p:nvSpPr>
          <p:cNvPr id="18" name="TextBox 17"/>
          <p:cNvSpPr txBox="1"/>
          <p:nvPr/>
        </p:nvSpPr>
        <p:spPr>
          <a:xfrm>
            <a:off x="2944368" y="2999232"/>
            <a:ext cx="3803903" cy="292608"/>
          </a:xfrm>
          <a:prstGeom prst="rect">
            <a:avLst/>
          </a:prstGeom>
          <a:noFill/>
        </p:spPr>
        <p:txBody>
          <a:bodyPr wrap="square" lIns="0" rIns="0" tIns="0" bIns="0">
            <a:spAutoFit/>
          </a:bodyPr>
          <a:lstStyle/>
          <a:p>
            <a:pPr algn="l">
              <a:spcAft>
                <a:spcPts val="800"/>
              </a:spcAft>
              <a:defRPr sz="1500" b="0">
                <a:solidFill>
                  <a:srgbClr val="263C51"/>
                </a:solidFill>
                <a:latin typeface="Aptos"/>
              </a:defRPr>
            </a:pPr>
            <a:r>
              <a:t>Compose · Material 3 · Navigation</a:t>
            </a:r>
          </a:p>
        </p:txBody>
      </p:sp>
      <p:sp>
        <p:nvSpPr>
          <p:cNvPr id="19" name="TextBox 18"/>
          <p:cNvSpPr txBox="1"/>
          <p:nvPr/>
        </p:nvSpPr>
        <p:spPr>
          <a:xfrm>
            <a:off x="7077455" y="2999232"/>
            <a:ext cx="4370831" cy="292608"/>
          </a:xfrm>
          <a:prstGeom prst="rect">
            <a:avLst/>
          </a:prstGeom>
          <a:noFill/>
        </p:spPr>
        <p:txBody>
          <a:bodyPr wrap="square" lIns="0" rIns="0" tIns="0" bIns="0">
            <a:spAutoFit/>
          </a:bodyPr>
          <a:lstStyle/>
          <a:p>
            <a:pPr algn="l">
              <a:spcAft>
                <a:spcPts val="800"/>
              </a:spcAft>
              <a:defRPr sz="1500" b="0">
                <a:solidFill>
                  <a:srgbClr val="263C51"/>
                </a:solidFill>
                <a:latin typeface="Aptos"/>
              </a:defRPr>
            </a:pPr>
            <a:r>
              <a:t>Declarative screens, controls and route handling</a:t>
            </a:r>
          </a:p>
        </p:txBody>
      </p:sp>
      <p:sp>
        <p:nvSpPr>
          <p:cNvPr id="20" name="Rounded Rectangle 19"/>
          <p:cNvSpPr/>
          <p:nvPr/>
        </p:nvSpPr>
        <p:spPr>
          <a:xfrm>
            <a:off x="566928" y="3392424"/>
            <a:ext cx="11045952" cy="4572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511296"/>
            <a:ext cx="1883664" cy="292608"/>
          </a:xfrm>
          <a:prstGeom prst="rect">
            <a:avLst/>
          </a:prstGeom>
          <a:noFill/>
        </p:spPr>
        <p:txBody>
          <a:bodyPr wrap="square" lIns="0" rIns="0" tIns="0" bIns="0">
            <a:spAutoFit/>
          </a:bodyPr>
          <a:lstStyle/>
          <a:p>
            <a:pPr algn="l">
              <a:spcAft>
                <a:spcPts val="800"/>
              </a:spcAft>
              <a:defRPr sz="1500" b="1">
                <a:solidFill>
                  <a:srgbClr val="172B46"/>
                </a:solidFill>
                <a:latin typeface="Aptos"/>
              </a:defRPr>
            </a:pPr>
            <a:r>
              <a:t>State &amp; async work</a:t>
            </a:r>
          </a:p>
        </p:txBody>
      </p:sp>
      <p:sp>
        <p:nvSpPr>
          <p:cNvPr id="22" name="TextBox 21"/>
          <p:cNvSpPr txBox="1"/>
          <p:nvPr/>
        </p:nvSpPr>
        <p:spPr>
          <a:xfrm>
            <a:off x="2944368" y="3511296"/>
            <a:ext cx="3803903" cy="292608"/>
          </a:xfrm>
          <a:prstGeom prst="rect">
            <a:avLst/>
          </a:prstGeom>
          <a:noFill/>
        </p:spPr>
        <p:txBody>
          <a:bodyPr wrap="square" lIns="0" rIns="0" tIns="0" bIns="0">
            <a:spAutoFit/>
          </a:bodyPr>
          <a:lstStyle/>
          <a:p>
            <a:pPr algn="l">
              <a:spcAft>
                <a:spcPts val="800"/>
              </a:spcAft>
              <a:defRPr sz="1500" b="0">
                <a:solidFill>
                  <a:srgbClr val="263C51"/>
                </a:solidFill>
                <a:latin typeface="Aptos"/>
              </a:defRPr>
            </a:pPr>
            <a:r>
              <a:t>ViewModel · Coroutines · StateFlow</a:t>
            </a:r>
          </a:p>
        </p:txBody>
      </p:sp>
      <p:sp>
        <p:nvSpPr>
          <p:cNvPr id="23" name="TextBox 22"/>
          <p:cNvSpPr txBox="1"/>
          <p:nvPr/>
        </p:nvSpPr>
        <p:spPr>
          <a:xfrm>
            <a:off x="7077455" y="3511296"/>
            <a:ext cx="4370831" cy="292608"/>
          </a:xfrm>
          <a:prstGeom prst="rect">
            <a:avLst/>
          </a:prstGeom>
          <a:noFill/>
        </p:spPr>
        <p:txBody>
          <a:bodyPr wrap="square" lIns="0" rIns="0" tIns="0" bIns="0">
            <a:spAutoFit/>
          </a:bodyPr>
          <a:lstStyle/>
          <a:p>
            <a:pPr algn="l">
              <a:spcAft>
                <a:spcPts val="800"/>
              </a:spcAft>
              <a:defRPr sz="1500" b="0">
                <a:solidFill>
                  <a:srgbClr val="263C51"/>
                </a:solidFill>
                <a:latin typeface="Aptos"/>
              </a:defRPr>
            </a:pPr>
            <a:r>
              <a:t>Screen state, background calls and reactive updates</a:t>
            </a:r>
          </a:p>
        </p:txBody>
      </p:sp>
      <p:sp>
        <p:nvSpPr>
          <p:cNvPr id="24" name="Rounded Rectangle 23"/>
          <p:cNvSpPr/>
          <p:nvPr/>
        </p:nvSpPr>
        <p:spPr>
          <a:xfrm>
            <a:off x="566928" y="3904487"/>
            <a:ext cx="11045952" cy="457200"/>
          </a:xfrm>
          <a:prstGeom prst="roundRect">
            <a:avLst>
              <a:gd name="adj" fmla="val 12000"/>
            </a:avLst>
          </a:prstGeom>
          <a:solidFill>
            <a:srgbClr val="E6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20" y="4023359"/>
            <a:ext cx="1883664" cy="292608"/>
          </a:xfrm>
          <a:prstGeom prst="rect">
            <a:avLst/>
          </a:prstGeom>
          <a:noFill/>
        </p:spPr>
        <p:txBody>
          <a:bodyPr wrap="square" lIns="0" rIns="0" tIns="0" bIns="0">
            <a:spAutoFit/>
          </a:bodyPr>
          <a:lstStyle/>
          <a:p>
            <a:pPr algn="l">
              <a:spcAft>
                <a:spcPts val="800"/>
              </a:spcAft>
              <a:defRPr sz="1500" b="1">
                <a:solidFill>
                  <a:srgbClr val="172B46"/>
                </a:solidFill>
                <a:latin typeface="Aptos"/>
              </a:defRPr>
            </a:pPr>
            <a:r>
              <a:t>Local persistence</a:t>
            </a:r>
          </a:p>
        </p:txBody>
      </p:sp>
      <p:sp>
        <p:nvSpPr>
          <p:cNvPr id="26" name="TextBox 25"/>
          <p:cNvSpPr txBox="1"/>
          <p:nvPr/>
        </p:nvSpPr>
        <p:spPr>
          <a:xfrm>
            <a:off x="2944368" y="4023359"/>
            <a:ext cx="3803903" cy="292608"/>
          </a:xfrm>
          <a:prstGeom prst="rect">
            <a:avLst/>
          </a:prstGeom>
          <a:noFill/>
        </p:spPr>
        <p:txBody>
          <a:bodyPr wrap="square" lIns="0" rIns="0" tIns="0" bIns="0">
            <a:spAutoFit/>
          </a:bodyPr>
          <a:lstStyle/>
          <a:p>
            <a:pPr algn="l">
              <a:spcAft>
                <a:spcPts val="800"/>
              </a:spcAft>
              <a:defRPr sz="1500" b="0">
                <a:solidFill>
                  <a:srgbClr val="263C51"/>
                </a:solidFill>
                <a:latin typeface="Aptos"/>
              </a:defRPr>
            </a:pPr>
            <a:r>
              <a:t>Room / DAO · DataStore</a:t>
            </a:r>
          </a:p>
        </p:txBody>
      </p:sp>
      <p:sp>
        <p:nvSpPr>
          <p:cNvPr id="27" name="TextBox 26"/>
          <p:cNvSpPr txBox="1"/>
          <p:nvPr/>
        </p:nvSpPr>
        <p:spPr>
          <a:xfrm>
            <a:off x="7077455" y="4023359"/>
            <a:ext cx="4370831" cy="292608"/>
          </a:xfrm>
          <a:prstGeom prst="rect">
            <a:avLst/>
          </a:prstGeom>
          <a:noFill/>
        </p:spPr>
        <p:txBody>
          <a:bodyPr wrap="square" lIns="0" rIns="0" tIns="0" bIns="0">
            <a:spAutoFit/>
          </a:bodyPr>
          <a:lstStyle/>
          <a:p>
            <a:pPr algn="l">
              <a:spcAft>
                <a:spcPts val="800"/>
              </a:spcAft>
              <a:defRPr sz="1500" b="0">
                <a:solidFill>
                  <a:srgbClr val="263C51"/>
                </a:solidFill>
                <a:latin typeface="Aptos"/>
              </a:defRPr>
            </a:pPr>
            <a:r>
              <a:t>8 structured entities; preferences and onboarding</a:t>
            </a:r>
          </a:p>
        </p:txBody>
      </p:sp>
      <p:sp>
        <p:nvSpPr>
          <p:cNvPr id="28" name="Rounded Rectangle 27"/>
          <p:cNvSpPr/>
          <p:nvPr/>
        </p:nvSpPr>
        <p:spPr>
          <a:xfrm>
            <a:off x="566928" y="4416552"/>
            <a:ext cx="11045952" cy="4572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1520" y="4535424"/>
            <a:ext cx="1883664" cy="292608"/>
          </a:xfrm>
          <a:prstGeom prst="rect">
            <a:avLst/>
          </a:prstGeom>
          <a:noFill/>
        </p:spPr>
        <p:txBody>
          <a:bodyPr wrap="square" lIns="0" rIns="0" tIns="0" bIns="0">
            <a:spAutoFit/>
          </a:bodyPr>
          <a:lstStyle/>
          <a:p>
            <a:pPr algn="l">
              <a:spcAft>
                <a:spcPts val="800"/>
              </a:spcAft>
              <a:defRPr sz="1500" b="1">
                <a:solidFill>
                  <a:srgbClr val="172B46"/>
                </a:solidFill>
                <a:latin typeface="Aptos"/>
              </a:defRPr>
            </a:pPr>
            <a:r>
              <a:t>Networking &amp; AI</a:t>
            </a:r>
          </a:p>
        </p:txBody>
      </p:sp>
      <p:sp>
        <p:nvSpPr>
          <p:cNvPr id="30" name="TextBox 29"/>
          <p:cNvSpPr txBox="1"/>
          <p:nvPr/>
        </p:nvSpPr>
        <p:spPr>
          <a:xfrm>
            <a:off x="2944368" y="4535424"/>
            <a:ext cx="3803903" cy="292608"/>
          </a:xfrm>
          <a:prstGeom prst="rect">
            <a:avLst/>
          </a:prstGeom>
          <a:noFill/>
        </p:spPr>
        <p:txBody>
          <a:bodyPr wrap="square" lIns="0" rIns="0" tIns="0" bIns="0">
            <a:spAutoFit/>
          </a:bodyPr>
          <a:lstStyle/>
          <a:p>
            <a:pPr algn="l">
              <a:spcAft>
                <a:spcPts val="800"/>
              </a:spcAft>
              <a:defRPr sz="1500" b="0">
                <a:solidFill>
                  <a:srgbClr val="263C51"/>
                </a:solidFill>
                <a:latin typeface="Aptos"/>
              </a:defRPr>
            </a:pPr>
            <a:r>
              <a:t>Retrofit · OkHttp · Gson · Groq</a:t>
            </a:r>
          </a:p>
        </p:txBody>
      </p:sp>
      <p:sp>
        <p:nvSpPr>
          <p:cNvPr id="31" name="TextBox 30"/>
          <p:cNvSpPr txBox="1"/>
          <p:nvPr/>
        </p:nvSpPr>
        <p:spPr>
          <a:xfrm>
            <a:off x="7077455" y="4535424"/>
            <a:ext cx="4370831" cy="292608"/>
          </a:xfrm>
          <a:prstGeom prst="rect">
            <a:avLst/>
          </a:prstGeom>
          <a:noFill/>
        </p:spPr>
        <p:txBody>
          <a:bodyPr wrap="square" lIns="0" rIns="0" tIns="0" bIns="0">
            <a:spAutoFit/>
          </a:bodyPr>
          <a:lstStyle/>
          <a:p>
            <a:pPr algn="l">
              <a:spcAft>
                <a:spcPts val="800"/>
              </a:spcAft>
              <a:defRPr sz="1500" b="0">
                <a:solidFill>
                  <a:srgbClr val="263C51"/>
                </a:solidFill>
                <a:latin typeface="Aptos"/>
              </a:defRPr>
            </a:pPr>
            <a:r>
              <a:t>HTTP requests, JSON parsing and AI responses</a:t>
            </a:r>
          </a:p>
        </p:txBody>
      </p:sp>
      <p:sp>
        <p:nvSpPr>
          <p:cNvPr id="32" name="Rounded Rectangle 31"/>
          <p:cNvSpPr/>
          <p:nvPr/>
        </p:nvSpPr>
        <p:spPr>
          <a:xfrm>
            <a:off x="566928" y="4928616"/>
            <a:ext cx="11045952" cy="457200"/>
          </a:xfrm>
          <a:prstGeom prst="roundRect">
            <a:avLst>
              <a:gd name="adj" fmla="val 12000"/>
            </a:avLst>
          </a:prstGeom>
          <a:solidFill>
            <a:srgbClr val="E6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5047488"/>
            <a:ext cx="1883664" cy="292608"/>
          </a:xfrm>
          <a:prstGeom prst="rect">
            <a:avLst/>
          </a:prstGeom>
          <a:noFill/>
        </p:spPr>
        <p:txBody>
          <a:bodyPr wrap="square" lIns="0" rIns="0" tIns="0" bIns="0">
            <a:spAutoFit/>
          </a:bodyPr>
          <a:lstStyle/>
          <a:p>
            <a:pPr algn="l">
              <a:spcAft>
                <a:spcPts val="800"/>
              </a:spcAft>
              <a:defRPr sz="1500" b="1">
                <a:solidFill>
                  <a:srgbClr val="172B46"/>
                </a:solidFill>
                <a:latin typeface="Aptos"/>
              </a:defRPr>
            </a:pPr>
            <a:r>
              <a:t>Verification</a:t>
            </a:r>
          </a:p>
        </p:txBody>
      </p:sp>
      <p:sp>
        <p:nvSpPr>
          <p:cNvPr id="34" name="TextBox 33"/>
          <p:cNvSpPr txBox="1"/>
          <p:nvPr/>
        </p:nvSpPr>
        <p:spPr>
          <a:xfrm>
            <a:off x="2944368" y="5047488"/>
            <a:ext cx="3803903" cy="292608"/>
          </a:xfrm>
          <a:prstGeom prst="rect">
            <a:avLst/>
          </a:prstGeom>
          <a:noFill/>
        </p:spPr>
        <p:txBody>
          <a:bodyPr wrap="square" lIns="0" rIns="0" tIns="0" bIns="0">
            <a:spAutoFit/>
          </a:bodyPr>
          <a:lstStyle/>
          <a:p>
            <a:pPr algn="l">
              <a:spcAft>
                <a:spcPts val="800"/>
              </a:spcAft>
              <a:defRPr sz="1500" b="0">
                <a:solidFill>
                  <a:srgbClr val="263C51"/>
                </a:solidFill>
                <a:latin typeface="Aptos"/>
              </a:defRPr>
            </a:pPr>
            <a:r>
              <a:t>Compose UI tests · AndroidJUnit4</a:t>
            </a:r>
          </a:p>
        </p:txBody>
      </p:sp>
      <p:sp>
        <p:nvSpPr>
          <p:cNvPr id="35" name="TextBox 34"/>
          <p:cNvSpPr txBox="1"/>
          <p:nvPr/>
        </p:nvSpPr>
        <p:spPr>
          <a:xfrm>
            <a:off x="7077455" y="5047488"/>
            <a:ext cx="4370831" cy="292608"/>
          </a:xfrm>
          <a:prstGeom prst="rect">
            <a:avLst/>
          </a:prstGeom>
          <a:noFill/>
        </p:spPr>
        <p:txBody>
          <a:bodyPr wrap="square" lIns="0" rIns="0" tIns="0" bIns="0">
            <a:spAutoFit/>
          </a:bodyPr>
          <a:lstStyle/>
          <a:p>
            <a:pPr algn="l">
              <a:spcAft>
                <a:spcPts val="800"/>
              </a:spcAft>
              <a:defRPr sz="1500" b="0">
                <a:solidFill>
                  <a:srgbClr val="263C51"/>
                </a:solidFill>
                <a:latin typeface="Aptos"/>
              </a:defRPr>
            </a:pPr>
            <a:r>
              <a:t>Navigation checks and opt-in live API tests</a:t>
            </a:r>
          </a:p>
        </p:txBody>
      </p:sp>
      <p:sp>
        <p:nvSpPr>
          <p:cNvPr id="36" name="TextBox 35"/>
          <p:cNvSpPr txBox="1"/>
          <p:nvPr/>
        </p:nvSpPr>
        <p:spPr>
          <a:xfrm>
            <a:off x="594360" y="5715000"/>
            <a:ext cx="10972800" cy="320040"/>
          </a:xfrm>
          <a:prstGeom prst="rect">
            <a:avLst/>
          </a:prstGeom>
          <a:noFill/>
        </p:spPr>
        <p:txBody>
          <a:bodyPr wrap="square" lIns="0" rIns="0" tIns="0" bIns="0">
            <a:spAutoFit/>
          </a:bodyPr>
          <a:lstStyle/>
          <a:p>
            <a:pPr algn="l">
              <a:spcAft>
                <a:spcPts val="800"/>
              </a:spcAft>
              <a:defRPr sz="1700" b="1">
                <a:solidFill>
                  <a:srgbClr val="087F8C"/>
                </a:solidFill>
                <a:latin typeface="Aptos"/>
              </a:defRPr>
            </a:pPr>
            <a:r>
              <a:t>Android compatibility: min SDK 26 (Android 8.0+)  •  compile / target SDK 35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0972800" cy="256032"/>
          </a:xfrm>
          <a:prstGeom prst="rect">
            <a:avLst/>
          </a:prstGeom>
          <a:noFill/>
        </p:spPr>
        <p:txBody>
          <a:bodyPr wrap="square" lIns="0" rIns="0" tIns="0" bIns="0">
            <a:spAutoFit/>
          </a:bodyPr>
          <a:lstStyle/>
          <a:p>
            <a:pPr algn="l">
              <a:spcAft>
                <a:spcPts val="800"/>
              </a:spcAft>
              <a:defRPr sz="1100" b="1">
                <a:solidFill>
                  <a:srgbClr val="087F8C"/>
                </a:solidFill>
                <a:latin typeface="Aptos"/>
              </a:defRPr>
            </a:pPr>
            <a:r>
              <a:t>ARCHITECTURE &amp; RESPONSIBILITY BOUNDARIES</a:t>
            </a:r>
          </a:p>
        </p:txBody>
      </p:sp>
      <p:sp>
        <p:nvSpPr>
          <p:cNvPr id="4" name="TextBox 3"/>
          <p:cNvSpPr txBox="1"/>
          <p:nvPr/>
        </p:nvSpPr>
        <p:spPr>
          <a:xfrm>
            <a:off x="502920" y="777240"/>
            <a:ext cx="10972800" cy="640080"/>
          </a:xfrm>
          <a:prstGeom prst="rect">
            <a:avLst/>
          </a:prstGeom>
          <a:noFill/>
        </p:spPr>
        <p:txBody>
          <a:bodyPr wrap="square" lIns="0" rIns="0" tIns="0" bIns="0">
            <a:spAutoFit/>
          </a:bodyPr>
          <a:lstStyle/>
          <a:p>
            <a:pPr algn="l">
              <a:spcAft>
                <a:spcPts val="800"/>
              </a:spcAft>
              <a:defRPr sz="3200" b="1">
                <a:solidFill>
                  <a:srgbClr val="172B46"/>
                </a:solidFill>
                <a:latin typeface="Aptos"/>
              </a:defRPr>
            </a:pPr>
            <a:r>
              <a:t>UI actions pass through a layered MVVM design</a:t>
            </a:r>
          </a:p>
        </p:txBody>
      </p:sp>
      <p:sp>
        <p:nvSpPr>
          <p:cNvPr id="5" name="Rectangle 4"/>
          <p:cNvSpPr/>
          <p:nvPr/>
        </p:nvSpPr>
        <p:spPr>
          <a:xfrm>
            <a:off x="502920" y="6391656"/>
            <a:ext cx="11155680" cy="10972"/>
          </a:xfrm>
          <a:prstGeom prst="rect">
            <a:avLst/>
          </a:prstGeom>
          <a:solidFill>
            <a:srgbClr val="D7E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10528"/>
            <a:ext cx="10058400" cy="182880"/>
          </a:xfrm>
          <a:prstGeom prst="rect">
            <a:avLst/>
          </a:prstGeom>
          <a:noFill/>
        </p:spPr>
        <p:txBody>
          <a:bodyPr wrap="square" lIns="0" rIns="0" tIns="0" bIns="0">
            <a:spAutoFit/>
          </a:bodyPr>
          <a:lstStyle/>
          <a:p>
            <a:pPr algn="l">
              <a:spcAft>
                <a:spcPts val="800"/>
              </a:spcAft>
              <a:defRPr sz="900" b="0">
                <a:solidFill>
                  <a:srgbClr val="64778A"/>
                </a:solidFill>
                <a:latin typeface="Aptos"/>
              </a:defRPr>
            </a:pPr>
            <a:r>
              <a:t>PLACEMENT COMPANION   /   MOBILE APPLICATION DEVELOPMENT LABORATORY</a:t>
            </a:r>
          </a:p>
        </p:txBody>
      </p:sp>
      <p:sp>
        <p:nvSpPr>
          <p:cNvPr id="7" name="TextBox 6"/>
          <p:cNvSpPr txBox="1"/>
          <p:nvPr/>
        </p:nvSpPr>
        <p:spPr>
          <a:xfrm>
            <a:off x="11018520" y="6473952"/>
            <a:ext cx="640080" cy="256032"/>
          </a:xfrm>
          <a:prstGeom prst="rect">
            <a:avLst/>
          </a:prstGeom>
          <a:noFill/>
        </p:spPr>
        <p:txBody>
          <a:bodyPr wrap="square" lIns="0" rIns="0" tIns="0" bIns="0">
            <a:spAutoFit/>
          </a:bodyPr>
          <a:lstStyle/>
          <a:p>
            <a:pPr algn="r">
              <a:spcAft>
                <a:spcPts val="800"/>
              </a:spcAft>
              <a:defRPr sz="1000" b="1">
                <a:solidFill>
                  <a:srgbClr val="64778A"/>
                </a:solidFill>
                <a:latin typeface="Aptos"/>
              </a:defRPr>
            </a:pPr>
            <a:r>
              <a:t>07 / 12</a:t>
            </a:r>
          </a:p>
        </p:txBody>
      </p:sp>
      <p:sp>
        <p:nvSpPr>
          <p:cNvPr id="8" name="Rounded Rectangle 7"/>
          <p:cNvSpPr/>
          <p:nvPr/>
        </p:nvSpPr>
        <p:spPr>
          <a:xfrm>
            <a:off x="548640" y="1746504"/>
            <a:ext cx="3255264" cy="438912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929384"/>
            <a:ext cx="2816352" cy="301752"/>
          </a:xfrm>
          <a:prstGeom prst="rect">
            <a:avLst/>
          </a:prstGeom>
          <a:noFill/>
        </p:spPr>
        <p:txBody>
          <a:bodyPr wrap="square" lIns="0" rIns="0" tIns="0" bIns="0">
            <a:spAutoFit/>
          </a:bodyPr>
          <a:lstStyle/>
          <a:p>
            <a:pPr algn="l">
              <a:spcAft>
                <a:spcPts val="800"/>
              </a:spcAft>
              <a:defRPr sz="1200" b="1">
                <a:solidFill>
                  <a:srgbClr val="087F8C"/>
                </a:solidFill>
                <a:latin typeface="Aptos"/>
              </a:defRPr>
            </a:pPr>
            <a:r>
              <a:t>SEPARATION OF CONCERNS</a:t>
            </a:r>
          </a:p>
        </p:txBody>
      </p:sp>
      <p:sp>
        <p:nvSpPr>
          <p:cNvPr id="10" name="TextBox 9"/>
          <p:cNvSpPr txBox="1"/>
          <p:nvPr/>
        </p:nvSpPr>
        <p:spPr>
          <a:xfrm>
            <a:off x="768096" y="2313432"/>
            <a:ext cx="2816352" cy="594360"/>
          </a:xfrm>
          <a:prstGeom prst="rect">
            <a:avLst/>
          </a:prstGeom>
          <a:noFill/>
        </p:spPr>
        <p:txBody>
          <a:bodyPr wrap="square" lIns="0" rIns="0" tIns="0" bIns="0">
            <a:spAutoFit/>
          </a:bodyPr>
          <a:lstStyle/>
          <a:p>
            <a:pPr algn="l">
              <a:spcAft>
                <a:spcPts val="800"/>
              </a:spcAft>
              <a:defRPr sz="2200" b="1">
                <a:solidFill>
                  <a:srgbClr val="172B46"/>
                </a:solidFill>
                <a:latin typeface="Aptos"/>
              </a:defRPr>
            </a:pPr>
            <a:r>
              <a:t>Why MVVM?</a:t>
            </a:r>
          </a:p>
        </p:txBody>
      </p:sp>
      <p:sp>
        <p:nvSpPr>
          <p:cNvPr id="11" name="TextBox 10"/>
          <p:cNvSpPr txBox="1"/>
          <p:nvPr/>
        </p:nvSpPr>
        <p:spPr>
          <a:xfrm>
            <a:off x="768096" y="2916936"/>
            <a:ext cx="2816352" cy="3090672"/>
          </a:xfrm>
          <a:prstGeom prst="rect">
            <a:avLst/>
          </a:prstGeom>
          <a:noFill/>
        </p:spPr>
        <p:txBody>
          <a:bodyPr wrap="square" lIns="0" rIns="0" tIns="0" bIns="0">
            <a:spAutoFit/>
          </a:bodyPr>
          <a:lstStyle/>
          <a:p>
            <a:pPr algn="l">
              <a:spcAft>
                <a:spcPts val="800"/>
              </a:spcAft>
              <a:defRPr sz="1800" b="0">
                <a:solidFill>
                  <a:srgbClr val="64778A"/>
                </a:solidFill>
                <a:latin typeface="Aptos"/>
              </a:defRPr>
            </a:pPr>
            <a:r>
              <a:t>UI renders screen state.</a:t>
            </a:r>
          </a:p>
          <a:p>
            <a:pPr algn="l">
              <a:spcAft>
                <a:spcPts val="800"/>
              </a:spcAft>
              <a:defRPr sz="1800" b="0">
                <a:solidFill>
                  <a:srgbClr val="64778A"/>
                </a:solidFill>
                <a:latin typeface="Aptos"/>
              </a:defRPr>
            </a:pPr>
            <a:r>
              <a:t>ViewModel owns state and asynchronous work.</a:t>
            </a:r>
          </a:p>
          <a:p>
            <a:pPr algn="l">
              <a:spcAft>
                <a:spcPts val="800"/>
              </a:spcAft>
              <a:defRPr sz="1800" b="0">
                <a:solidFill>
                  <a:srgbClr val="64778A"/>
                </a:solidFill>
                <a:latin typeface="Aptos"/>
              </a:defRPr>
            </a:pPr>
            <a:r>
              <a:t>Repository coordinates local and remote data.</a:t>
            </a:r>
          </a:p>
          <a:p>
            <a:pPr algn="l">
              <a:spcAft>
                <a:spcPts val="800"/>
              </a:spcAft>
              <a:defRPr sz="1800" b="0">
                <a:solidFill>
                  <a:srgbClr val="64778A"/>
                </a:solidFill>
                <a:latin typeface="Aptos"/>
              </a:defRPr>
            </a:pPr>
            <a:r>
              <a:t>Room emits saved changes.</a:t>
            </a:r>
          </a:p>
        </p:txBody>
      </p:sp>
      <p:sp>
        <p:nvSpPr>
          <p:cNvPr id="12" name="Rounded Rectangle 11"/>
          <p:cNvSpPr/>
          <p:nvPr/>
        </p:nvSpPr>
        <p:spPr>
          <a:xfrm>
            <a:off x="4160520" y="2249424"/>
            <a:ext cx="2304288" cy="1188720"/>
          </a:xfrm>
          <a:prstGeom prst="roundRect">
            <a:avLst>
              <a:gd name="adj" fmla="val 12000"/>
            </a:avLst>
          </a:prstGeom>
          <a:solidFill>
            <a:srgbClr val="17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15968" y="2468880"/>
            <a:ext cx="1993392" cy="320040"/>
          </a:xfrm>
          <a:prstGeom prst="rect">
            <a:avLst/>
          </a:prstGeom>
          <a:noFill/>
        </p:spPr>
        <p:txBody>
          <a:bodyPr wrap="square" lIns="0" rIns="0" tIns="0" bIns="0">
            <a:spAutoFit/>
          </a:bodyPr>
          <a:lstStyle/>
          <a:p>
            <a:pPr algn="ctr">
              <a:spcAft>
                <a:spcPts val="800"/>
              </a:spcAft>
              <a:defRPr sz="2000" b="1">
                <a:solidFill>
                  <a:srgbClr val="FFFFFF"/>
                </a:solidFill>
                <a:latin typeface="Aptos"/>
              </a:defRPr>
            </a:pPr>
            <a:r>
              <a:t>Compose UI</a:t>
            </a:r>
          </a:p>
        </p:txBody>
      </p:sp>
      <p:sp>
        <p:nvSpPr>
          <p:cNvPr id="14" name="TextBox 13"/>
          <p:cNvSpPr txBox="1"/>
          <p:nvPr/>
        </p:nvSpPr>
        <p:spPr>
          <a:xfrm>
            <a:off x="4297680" y="2907792"/>
            <a:ext cx="2029968" cy="320040"/>
          </a:xfrm>
          <a:prstGeom prst="rect">
            <a:avLst/>
          </a:prstGeom>
          <a:noFill/>
        </p:spPr>
        <p:txBody>
          <a:bodyPr wrap="square" lIns="0" rIns="0" tIns="0" bIns="0">
            <a:spAutoFit/>
          </a:bodyPr>
          <a:lstStyle/>
          <a:p>
            <a:pPr algn="ctr">
              <a:spcAft>
                <a:spcPts val="800"/>
              </a:spcAft>
              <a:defRPr sz="1200" b="0">
                <a:solidFill>
                  <a:srgbClr val="D4E1EB"/>
                </a:solidFill>
                <a:latin typeface="Aptos"/>
              </a:defRPr>
            </a:pPr>
            <a:r>
              <a:t>Screens + user actions</a:t>
            </a:r>
          </a:p>
        </p:txBody>
      </p:sp>
      <p:sp>
        <p:nvSpPr>
          <p:cNvPr id="15" name="Rounded Rectangle 14"/>
          <p:cNvSpPr/>
          <p:nvPr/>
        </p:nvSpPr>
        <p:spPr>
          <a:xfrm>
            <a:off x="6693408" y="2249424"/>
            <a:ext cx="2304288" cy="1188720"/>
          </a:xfrm>
          <a:prstGeom prst="roundRect">
            <a:avLst>
              <a:gd name="adj" fmla="val 12000"/>
            </a:avLst>
          </a:prstGeom>
          <a:solidFill>
            <a:srgbClr val="17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48856" y="2468880"/>
            <a:ext cx="1993392" cy="320040"/>
          </a:xfrm>
          <a:prstGeom prst="rect">
            <a:avLst/>
          </a:prstGeom>
          <a:noFill/>
        </p:spPr>
        <p:txBody>
          <a:bodyPr wrap="square" lIns="0" rIns="0" tIns="0" bIns="0">
            <a:spAutoFit/>
          </a:bodyPr>
          <a:lstStyle/>
          <a:p>
            <a:pPr algn="ctr">
              <a:spcAft>
                <a:spcPts val="800"/>
              </a:spcAft>
              <a:defRPr sz="2000" b="1">
                <a:solidFill>
                  <a:srgbClr val="FFFFFF"/>
                </a:solidFill>
                <a:latin typeface="Aptos"/>
              </a:defRPr>
            </a:pPr>
            <a:r>
              <a:t>ViewModel</a:t>
            </a:r>
          </a:p>
        </p:txBody>
      </p:sp>
      <p:sp>
        <p:nvSpPr>
          <p:cNvPr id="17" name="TextBox 16"/>
          <p:cNvSpPr txBox="1"/>
          <p:nvPr/>
        </p:nvSpPr>
        <p:spPr>
          <a:xfrm>
            <a:off x="6830568" y="2907792"/>
            <a:ext cx="2029968" cy="320040"/>
          </a:xfrm>
          <a:prstGeom prst="rect">
            <a:avLst/>
          </a:prstGeom>
          <a:noFill/>
        </p:spPr>
        <p:txBody>
          <a:bodyPr wrap="square" lIns="0" rIns="0" tIns="0" bIns="0">
            <a:spAutoFit/>
          </a:bodyPr>
          <a:lstStyle/>
          <a:p>
            <a:pPr algn="ctr">
              <a:spcAft>
                <a:spcPts val="800"/>
              </a:spcAft>
              <a:defRPr sz="1200" b="0">
                <a:solidFill>
                  <a:srgbClr val="D4E1EB"/>
                </a:solidFill>
                <a:latin typeface="Aptos"/>
              </a:defRPr>
            </a:pPr>
            <a:r>
              <a:t>State + async operations</a:t>
            </a:r>
          </a:p>
        </p:txBody>
      </p:sp>
      <p:sp>
        <p:nvSpPr>
          <p:cNvPr id="18" name="Rounded Rectangle 17"/>
          <p:cNvSpPr/>
          <p:nvPr/>
        </p:nvSpPr>
        <p:spPr>
          <a:xfrm>
            <a:off x="9226296" y="2249424"/>
            <a:ext cx="2304288" cy="1188720"/>
          </a:xfrm>
          <a:prstGeom prst="roundRect">
            <a:avLst>
              <a:gd name="adj" fmla="val 12000"/>
            </a:avLst>
          </a:prstGeom>
          <a:solidFill>
            <a:srgbClr val="17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81744" y="2468880"/>
            <a:ext cx="1993392" cy="320040"/>
          </a:xfrm>
          <a:prstGeom prst="rect">
            <a:avLst/>
          </a:prstGeom>
          <a:noFill/>
        </p:spPr>
        <p:txBody>
          <a:bodyPr wrap="square" lIns="0" rIns="0" tIns="0" bIns="0">
            <a:spAutoFit/>
          </a:bodyPr>
          <a:lstStyle/>
          <a:p>
            <a:pPr algn="ctr">
              <a:spcAft>
                <a:spcPts val="800"/>
              </a:spcAft>
              <a:defRPr sz="2000" b="1">
                <a:solidFill>
                  <a:srgbClr val="FFFFFF"/>
                </a:solidFill>
                <a:latin typeface="Aptos"/>
              </a:defRPr>
            </a:pPr>
            <a:r>
              <a:t>Repository</a:t>
            </a:r>
          </a:p>
        </p:txBody>
      </p:sp>
      <p:sp>
        <p:nvSpPr>
          <p:cNvPr id="20" name="TextBox 19"/>
          <p:cNvSpPr txBox="1"/>
          <p:nvPr/>
        </p:nvSpPr>
        <p:spPr>
          <a:xfrm>
            <a:off x="9363456" y="2907792"/>
            <a:ext cx="2029968" cy="320040"/>
          </a:xfrm>
          <a:prstGeom prst="rect">
            <a:avLst/>
          </a:prstGeom>
          <a:noFill/>
        </p:spPr>
        <p:txBody>
          <a:bodyPr wrap="square" lIns="0" rIns="0" tIns="0" bIns="0">
            <a:spAutoFit/>
          </a:bodyPr>
          <a:lstStyle/>
          <a:p>
            <a:pPr algn="ctr">
              <a:spcAft>
                <a:spcPts val="800"/>
              </a:spcAft>
              <a:defRPr sz="1200" b="0">
                <a:solidFill>
                  <a:srgbClr val="D4E1EB"/>
                </a:solidFill>
                <a:latin typeface="Aptos"/>
              </a:defRPr>
            </a:pPr>
            <a:r>
              <a:t>Data access + API calls</a:t>
            </a:r>
          </a:p>
        </p:txBody>
      </p:sp>
      <p:cxnSp>
        <p:nvCxnSpPr>
          <p:cNvPr id="21" name="Connector 20"/>
          <p:cNvCxnSpPr/>
          <p:nvPr/>
        </p:nvCxnSpPr>
        <p:spPr>
          <a:xfrm>
            <a:off x="6464808" y="2843784"/>
            <a:ext cx="192024" cy="0"/>
          </a:xfrm>
          <a:prstGeom prst="line">
            <a:avLst/>
          </a:prstGeom>
          <a:ln w="31750">
            <a:solidFill>
              <a:srgbClr val="087F8C"/>
            </a:solidFill>
          </a:ln>
        </p:spPr>
        <p:style>
          <a:lnRef idx="2">
            <a:schemeClr val="accent1"/>
          </a:lnRef>
          <a:fillRef idx="0">
            <a:schemeClr val="accent1"/>
          </a:fillRef>
          <a:effectRef idx="1">
            <a:schemeClr val="accent1"/>
          </a:effectRef>
          <a:fontRef idx="minor">
            <a:schemeClr val="tx1"/>
          </a:fontRef>
        </p:style>
      </p:cxnSp>
      <p:sp>
        <p:nvSpPr>
          <p:cNvPr id="22" name="Chevron 21"/>
          <p:cNvSpPr/>
          <p:nvPr/>
        </p:nvSpPr>
        <p:spPr>
          <a:xfrm>
            <a:off x="6565392" y="2770632"/>
            <a:ext cx="146304" cy="146304"/>
          </a:xfrm>
          <a:prstGeom prst="chevron">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a:off x="8997696" y="2843784"/>
            <a:ext cx="192024" cy="0"/>
          </a:xfrm>
          <a:prstGeom prst="line">
            <a:avLst/>
          </a:prstGeom>
          <a:ln w="31750">
            <a:solidFill>
              <a:srgbClr val="087F8C"/>
            </a:solidFill>
          </a:ln>
        </p:spPr>
        <p:style>
          <a:lnRef idx="2">
            <a:schemeClr val="accent1"/>
          </a:lnRef>
          <a:fillRef idx="0">
            <a:schemeClr val="accent1"/>
          </a:fillRef>
          <a:effectRef idx="1">
            <a:schemeClr val="accent1"/>
          </a:effectRef>
          <a:fontRef idx="minor">
            <a:schemeClr val="tx1"/>
          </a:fontRef>
        </p:style>
      </p:cxnSp>
      <p:sp>
        <p:nvSpPr>
          <p:cNvPr id="24" name="Chevron 23"/>
          <p:cNvSpPr/>
          <p:nvPr/>
        </p:nvSpPr>
        <p:spPr>
          <a:xfrm>
            <a:off x="9098280" y="2770632"/>
            <a:ext cx="146304" cy="146304"/>
          </a:xfrm>
          <a:prstGeom prst="chevron">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4160520" y="3977639"/>
            <a:ext cx="7370064" cy="1600200"/>
          </a:xfrm>
          <a:prstGeom prst="roundRect">
            <a:avLst>
              <a:gd name="adj" fmla="val 12000"/>
            </a:avLst>
          </a:prstGeom>
          <a:solidFill>
            <a:srgbClr val="E6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16552" y="4233672"/>
            <a:ext cx="6858000" cy="393192"/>
          </a:xfrm>
          <a:prstGeom prst="rect">
            <a:avLst/>
          </a:prstGeom>
          <a:noFill/>
        </p:spPr>
        <p:txBody>
          <a:bodyPr wrap="square" lIns="0" rIns="0" tIns="0" bIns="0">
            <a:spAutoFit/>
          </a:bodyPr>
          <a:lstStyle/>
          <a:p>
            <a:pPr algn="l">
              <a:spcAft>
                <a:spcPts val="800"/>
              </a:spcAft>
              <a:defRPr sz="2300" b="1">
                <a:solidFill>
                  <a:srgbClr val="087F8C"/>
                </a:solidFill>
                <a:latin typeface="Aptos"/>
              </a:defRPr>
            </a:pPr>
            <a:r>
              <a:t>Two data paths</a:t>
            </a:r>
          </a:p>
        </p:txBody>
      </p:sp>
      <p:sp>
        <p:nvSpPr>
          <p:cNvPr id="27" name="TextBox 26"/>
          <p:cNvSpPr txBox="1"/>
          <p:nvPr/>
        </p:nvSpPr>
        <p:spPr>
          <a:xfrm>
            <a:off x="4416552" y="4745736"/>
            <a:ext cx="6858000" cy="731520"/>
          </a:xfrm>
          <a:prstGeom prst="rect">
            <a:avLst/>
          </a:prstGeom>
          <a:noFill/>
        </p:spPr>
        <p:txBody>
          <a:bodyPr wrap="square" lIns="0" rIns="0" tIns="0" bIns="0">
            <a:spAutoFit/>
          </a:bodyPr>
          <a:lstStyle/>
          <a:p>
            <a:pPr algn="l">
              <a:spcAft>
                <a:spcPts val="800"/>
              </a:spcAft>
              <a:defRPr sz="1900" b="0">
                <a:solidFill>
                  <a:srgbClr val="263C51"/>
                </a:solidFill>
                <a:latin typeface="Aptos"/>
              </a:defRPr>
            </a:pPr>
            <a:r>
              <a:t>Local: Room database + DataStore preferences</a:t>
            </a:r>
          </a:p>
          <a:p>
            <a:pPr algn="l">
              <a:spcAft>
                <a:spcPts val="800"/>
              </a:spcAft>
              <a:defRPr sz="1900" b="0">
                <a:solidFill>
                  <a:srgbClr val="263C51"/>
                </a:solidFill>
                <a:latin typeface="Aptos"/>
              </a:defRPr>
            </a:pPr>
            <a:r>
              <a:t>Remote: Retrofit → Groq API → parsed response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0972800" cy="256032"/>
          </a:xfrm>
          <a:prstGeom prst="rect">
            <a:avLst/>
          </a:prstGeom>
          <a:noFill/>
        </p:spPr>
        <p:txBody>
          <a:bodyPr wrap="square" lIns="0" rIns="0" tIns="0" bIns="0">
            <a:spAutoFit/>
          </a:bodyPr>
          <a:lstStyle/>
          <a:p>
            <a:pPr algn="l">
              <a:spcAft>
                <a:spcPts val="800"/>
              </a:spcAft>
              <a:defRPr sz="1100" b="1">
                <a:solidFill>
                  <a:srgbClr val="087F8C"/>
                </a:solidFill>
                <a:latin typeface="Aptos"/>
              </a:defRPr>
            </a:pPr>
            <a:r>
              <a:t>API INTEGRATION, WORKFLOW &amp; DATA HANDLING</a:t>
            </a:r>
          </a:p>
        </p:txBody>
      </p:sp>
      <p:sp>
        <p:nvSpPr>
          <p:cNvPr id="4" name="TextBox 3"/>
          <p:cNvSpPr txBox="1"/>
          <p:nvPr/>
        </p:nvSpPr>
        <p:spPr>
          <a:xfrm>
            <a:off x="502920" y="777240"/>
            <a:ext cx="10972800" cy="640080"/>
          </a:xfrm>
          <a:prstGeom prst="rect">
            <a:avLst/>
          </a:prstGeom>
          <a:noFill/>
        </p:spPr>
        <p:txBody>
          <a:bodyPr wrap="square" lIns="0" rIns="0" tIns="0" bIns="0">
            <a:spAutoFit/>
          </a:bodyPr>
          <a:lstStyle/>
          <a:p>
            <a:pPr algn="l">
              <a:spcAft>
                <a:spcPts val="800"/>
              </a:spcAft>
              <a:defRPr sz="3200" b="1">
                <a:solidFill>
                  <a:srgbClr val="172B46"/>
                </a:solidFill>
                <a:latin typeface="Aptos"/>
              </a:defRPr>
            </a:pPr>
            <a:r>
              <a:t>AI guidance becomes a saved study task</a:t>
            </a:r>
          </a:p>
        </p:txBody>
      </p:sp>
      <p:sp>
        <p:nvSpPr>
          <p:cNvPr id="5" name="Rectangle 4"/>
          <p:cNvSpPr/>
          <p:nvPr/>
        </p:nvSpPr>
        <p:spPr>
          <a:xfrm>
            <a:off x="502920" y="6391656"/>
            <a:ext cx="11155680" cy="10972"/>
          </a:xfrm>
          <a:prstGeom prst="rect">
            <a:avLst/>
          </a:prstGeom>
          <a:solidFill>
            <a:srgbClr val="D7E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10528"/>
            <a:ext cx="10058400" cy="182880"/>
          </a:xfrm>
          <a:prstGeom prst="rect">
            <a:avLst/>
          </a:prstGeom>
          <a:noFill/>
        </p:spPr>
        <p:txBody>
          <a:bodyPr wrap="square" lIns="0" rIns="0" tIns="0" bIns="0">
            <a:spAutoFit/>
          </a:bodyPr>
          <a:lstStyle/>
          <a:p>
            <a:pPr algn="l">
              <a:spcAft>
                <a:spcPts val="800"/>
              </a:spcAft>
              <a:defRPr sz="900" b="0">
                <a:solidFill>
                  <a:srgbClr val="64778A"/>
                </a:solidFill>
                <a:latin typeface="Aptos"/>
              </a:defRPr>
            </a:pPr>
            <a:r>
              <a:t>PLACEMENT COMPANION   /   MOBILE APPLICATION DEVELOPMENT LABORATORY</a:t>
            </a:r>
          </a:p>
        </p:txBody>
      </p:sp>
      <p:sp>
        <p:nvSpPr>
          <p:cNvPr id="7" name="TextBox 6"/>
          <p:cNvSpPr txBox="1"/>
          <p:nvPr/>
        </p:nvSpPr>
        <p:spPr>
          <a:xfrm>
            <a:off x="11018520" y="6473952"/>
            <a:ext cx="640080" cy="256032"/>
          </a:xfrm>
          <a:prstGeom prst="rect">
            <a:avLst/>
          </a:prstGeom>
          <a:noFill/>
        </p:spPr>
        <p:txBody>
          <a:bodyPr wrap="square" lIns="0" rIns="0" tIns="0" bIns="0">
            <a:spAutoFit/>
          </a:bodyPr>
          <a:lstStyle/>
          <a:p>
            <a:pPr algn="r">
              <a:spcAft>
                <a:spcPts val="800"/>
              </a:spcAft>
              <a:defRPr sz="1000" b="1">
                <a:solidFill>
                  <a:srgbClr val="64778A"/>
                </a:solidFill>
                <a:latin typeface="Aptos"/>
              </a:defRPr>
            </a:pPr>
            <a:r>
              <a:t>08 / 12</a:t>
            </a:r>
          </a:p>
        </p:txBody>
      </p:sp>
      <p:sp>
        <p:nvSpPr>
          <p:cNvPr id="8" name="Rounded Rectangle 7"/>
          <p:cNvSpPr/>
          <p:nvPr/>
        </p:nvSpPr>
        <p:spPr>
          <a:xfrm>
            <a:off x="548640" y="1901952"/>
            <a:ext cx="2578608" cy="1975104"/>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 y="2103120"/>
            <a:ext cx="457200" cy="365760"/>
          </a:xfrm>
          <a:prstGeom prst="rect">
            <a:avLst/>
          </a:prstGeom>
          <a:noFill/>
        </p:spPr>
        <p:txBody>
          <a:bodyPr wrap="square" lIns="0" rIns="0" tIns="0" bIns="0">
            <a:spAutoFit/>
          </a:bodyPr>
          <a:lstStyle/>
          <a:p>
            <a:pPr algn="l">
              <a:spcAft>
                <a:spcPts val="800"/>
              </a:spcAft>
              <a:defRPr sz="2500" b="1">
                <a:solidFill>
                  <a:srgbClr val="087F8C"/>
                </a:solidFill>
                <a:latin typeface="Aptos"/>
              </a:defRPr>
            </a:pPr>
            <a:r>
              <a:t>1</a:t>
            </a:r>
          </a:p>
        </p:txBody>
      </p:sp>
      <p:sp>
        <p:nvSpPr>
          <p:cNvPr id="10" name="TextBox 9"/>
          <p:cNvSpPr txBox="1"/>
          <p:nvPr/>
        </p:nvSpPr>
        <p:spPr>
          <a:xfrm>
            <a:off x="758952" y="2651760"/>
            <a:ext cx="2157984" cy="393192"/>
          </a:xfrm>
          <a:prstGeom prst="rect">
            <a:avLst/>
          </a:prstGeom>
          <a:noFill/>
        </p:spPr>
        <p:txBody>
          <a:bodyPr wrap="square" lIns="0" rIns="0" tIns="0" bIns="0">
            <a:spAutoFit/>
          </a:bodyPr>
          <a:lstStyle/>
          <a:p>
            <a:pPr algn="l">
              <a:spcAft>
                <a:spcPts val="800"/>
              </a:spcAft>
              <a:defRPr sz="2000" b="1">
                <a:solidFill>
                  <a:srgbClr val="172B46"/>
                </a:solidFill>
                <a:latin typeface="Aptos"/>
              </a:defRPr>
            </a:pPr>
            <a:r>
              <a:t>Set preferences</a:t>
            </a:r>
          </a:p>
        </p:txBody>
      </p:sp>
      <p:sp>
        <p:nvSpPr>
          <p:cNvPr id="11" name="TextBox 10"/>
          <p:cNvSpPr txBox="1"/>
          <p:nvPr/>
        </p:nvSpPr>
        <p:spPr>
          <a:xfrm>
            <a:off x="758952" y="3127248"/>
            <a:ext cx="2157984" cy="640080"/>
          </a:xfrm>
          <a:prstGeom prst="rect">
            <a:avLst/>
          </a:prstGeom>
          <a:noFill/>
        </p:spPr>
        <p:txBody>
          <a:bodyPr wrap="square" lIns="0" rIns="0" tIns="0" bIns="0">
            <a:spAutoFit/>
          </a:bodyPr>
          <a:lstStyle/>
          <a:p>
            <a:pPr algn="l">
              <a:spcAft>
                <a:spcPts val="800"/>
              </a:spcAft>
              <a:defRPr sz="1600" b="0">
                <a:solidFill>
                  <a:srgbClr val="64778A"/>
                </a:solidFill>
                <a:latin typeface="Aptos"/>
              </a:defRPr>
            </a:pPr>
            <a:r>
              <a:t>Company, time budget</a:t>
            </a:r>
          </a:p>
          <a:p>
            <a:pPr algn="l">
              <a:spcAft>
                <a:spcPts val="800"/>
              </a:spcAft>
              <a:defRPr sz="1600" b="0">
                <a:solidFill>
                  <a:srgbClr val="64778A"/>
                </a:solidFill>
                <a:latin typeface="Aptos"/>
              </a:defRPr>
            </a:pPr>
            <a:r>
              <a:t>and preparation topics</a:t>
            </a:r>
          </a:p>
        </p:txBody>
      </p:sp>
      <p:cxnSp>
        <p:nvCxnSpPr>
          <p:cNvPr id="12" name="Connector 11"/>
          <p:cNvCxnSpPr/>
          <p:nvPr/>
        </p:nvCxnSpPr>
        <p:spPr>
          <a:xfrm>
            <a:off x="3136392" y="2871216"/>
            <a:ext cx="173736" cy="0"/>
          </a:xfrm>
          <a:prstGeom prst="line">
            <a:avLst/>
          </a:prstGeom>
          <a:ln w="31750">
            <a:solidFill>
              <a:srgbClr val="087F8C"/>
            </a:solidFill>
          </a:ln>
        </p:spPr>
        <p:style>
          <a:lnRef idx="2">
            <a:schemeClr val="accent1"/>
          </a:lnRef>
          <a:fillRef idx="0">
            <a:schemeClr val="accent1"/>
          </a:fillRef>
          <a:effectRef idx="1">
            <a:schemeClr val="accent1"/>
          </a:effectRef>
          <a:fontRef idx="minor">
            <a:schemeClr val="tx1"/>
          </a:fontRef>
        </p:style>
      </p:cxnSp>
      <p:sp>
        <p:nvSpPr>
          <p:cNvPr id="13" name="Chevron 12"/>
          <p:cNvSpPr/>
          <p:nvPr/>
        </p:nvSpPr>
        <p:spPr>
          <a:xfrm>
            <a:off x="3218688" y="2798064"/>
            <a:ext cx="146304" cy="146304"/>
          </a:xfrm>
          <a:prstGeom prst="chevron">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355848" y="1901952"/>
            <a:ext cx="2578608" cy="1975104"/>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66160" y="2103120"/>
            <a:ext cx="457200" cy="365760"/>
          </a:xfrm>
          <a:prstGeom prst="rect">
            <a:avLst/>
          </a:prstGeom>
          <a:noFill/>
        </p:spPr>
        <p:txBody>
          <a:bodyPr wrap="square" lIns="0" rIns="0" tIns="0" bIns="0">
            <a:spAutoFit/>
          </a:bodyPr>
          <a:lstStyle/>
          <a:p>
            <a:pPr algn="l">
              <a:spcAft>
                <a:spcPts val="800"/>
              </a:spcAft>
              <a:defRPr sz="2500" b="1">
                <a:solidFill>
                  <a:srgbClr val="087F8C"/>
                </a:solidFill>
                <a:latin typeface="Aptos"/>
              </a:defRPr>
            </a:pPr>
            <a:r>
              <a:t>2</a:t>
            </a:r>
          </a:p>
        </p:txBody>
      </p:sp>
      <p:sp>
        <p:nvSpPr>
          <p:cNvPr id="16" name="TextBox 15"/>
          <p:cNvSpPr txBox="1"/>
          <p:nvPr/>
        </p:nvSpPr>
        <p:spPr>
          <a:xfrm>
            <a:off x="3566160" y="2651760"/>
            <a:ext cx="2157984" cy="393192"/>
          </a:xfrm>
          <a:prstGeom prst="rect">
            <a:avLst/>
          </a:prstGeom>
          <a:noFill/>
        </p:spPr>
        <p:txBody>
          <a:bodyPr wrap="square" lIns="0" rIns="0" tIns="0" bIns="0">
            <a:spAutoFit/>
          </a:bodyPr>
          <a:lstStyle/>
          <a:p>
            <a:pPr algn="l">
              <a:spcAft>
                <a:spcPts val="800"/>
              </a:spcAft>
              <a:defRPr sz="2000" b="1">
                <a:solidFill>
                  <a:srgbClr val="172B46"/>
                </a:solidFill>
                <a:latin typeface="Aptos"/>
              </a:defRPr>
            </a:pPr>
            <a:r>
              <a:t>Call Groq API</a:t>
            </a:r>
          </a:p>
        </p:txBody>
      </p:sp>
      <p:sp>
        <p:nvSpPr>
          <p:cNvPr id="17" name="TextBox 16"/>
          <p:cNvSpPr txBox="1"/>
          <p:nvPr/>
        </p:nvSpPr>
        <p:spPr>
          <a:xfrm>
            <a:off x="3566160" y="3127248"/>
            <a:ext cx="2157984" cy="640080"/>
          </a:xfrm>
          <a:prstGeom prst="rect">
            <a:avLst/>
          </a:prstGeom>
          <a:noFill/>
        </p:spPr>
        <p:txBody>
          <a:bodyPr wrap="square" lIns="0" rIns="0" tIns="0" bIns="0">
            <a:spAutoFit/>
          </a:bodyPr>
          <a:lstStyle/>
          <a:p>
            <a:pPr algn="l">
              <a:spcAft>
                <a:spcPts val="800"/>
              </a:spcAft>
              <a:defRPr sz="1600" b="0">
                <a:solidFill>
                  <a:srgbClr val="64778A"/>
                </a:solidFill>
                <a:latin typeface="Aptos"/>
              </a:defRPr>
            </a:pPr>
            <a:r>
              <a:t>Send a request using</a:t>
            </a:r>
          </a:p>
          <a:p>
            <a:pPr algn="l">
              <a:spcAft>
                <a:spcPts val="800"/>
              </a:spcAft>
              <a:defRPr sz="1600" b="0">
                <a:solidFill>
                  <a:srgbClr val="64778A"/>
                </a:solidFill>
                <a:latin typeface="Aptos"/>
              </a:defRPr>
            </a:pPr>
            <a:r>
              <a:t>Retrofit / OkHttp</a:t>
            </a:r>
          </a:p>
        </p:txBody>
      </p:sp>
      <p:cxnSp>
        <p:nvCxnSpPr>
          <p:cNvPr id="18" name="Connector 17"/>
          <p:cNvCxnSpPr/>
          <p:nvPr/>
        </p:nvCxnSpPr>
        <p:spPr>
          <a:xfrm>
            <a:off x="5943600" y="2871216"/>
            <a:ext cx="173736" cy="0"/>
          </a:xfrm>
          <a:prstGeom prst="line">
            <a:avLst/>
          </a:prstGeom>
          <a:ln w="31750">
            <a:solidFill>
              <a:srgbClr val="087F8C"/>
            </a:solidFill>
          </a:ln>
        </p:spPr>
        <p:style>
          <a:lnRef idx="2">
            <a:schemeClr val="accent1"/>
          </a:lnRef>
          <a:fillRef idx="0">
            <a:schemeClr val="accent1"/>
          </a:fillRef>
          <a:effectRef idx="1">
            <a:schemeClr val="accent1"/>
          </a:effectRef>
          <a:fontRef idx="minor">
            <a:schemeClr val="tx1"/>
          </a:fontRef>
        </p:style>
      </p:cxnSp>
      <p:sp>
        <p:nvSpPr>
          <p:cNvPr id="19" name="Chevron 18"/>
          <p:cNvSpPr/>
          <p:nvPr/>
        </p:nvSpPr>
        <p:spPr>
          <a:xfrm>
            <a:off x="6025896" y="2798064"/>
            <a:ext cx="146304" cy="146304"/>
          </a:xfrm>
          <a:prstGeom prst="chevron">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163055" y="1901952"/>
            <a:ext cx="2578608" cy="1975104"/>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73368" y="2103120"/>
            <a:ext cx="457200" cy="365760"/>
          </a:xfrm>
          <a:prstGeom prst="rect">
            <a:avLst/>
          </a:prstGeom>
          <a:noFill/>
        </p:spPr>
        <p:txBody>
          <a:bodyPr wrap="square" lIns="0" rIns="0" tIns="0" bIns="0">
            <a:spAutoFit/>
          </a:bodyPr>
          <a:lstStyle/>
          <a:p>
            <a:pPr algn="l">
              <a:spcAft>
                <a:spcPts val="800"/>
              </a:spcAft>
              <a:defRPr sz="2500" b="1">
                <a:solidFill>
                  <a:srgbClr val="087F8C"/>
                </a:solidFill>
                <a:latin typeface="Aptos"/>
              </a:defRPr>
            </a:pPr>
            <a:r>
              <a:t>3</a:t>
            </a:r>
          </a:p>
        </p:txBody>
      </p:sp>
      <p:sp>
        <p:nvSpPr>
          <p:cNvPr id="22" name="TextBox 21"/>
          <p:cNvSpPr txBox="1"/>
          <p:nvPr/>
        </p:nvSpPr>
        <p:spPr>
          <a:xfrm>
            <a:off x="6373368" y="2651760"/>
            <a:ext cx="2157984" cy="393192"/>
          </a:xfrm>
          <a:prstGeom prst="rect">
            <a:avLst/>
          </a:prstGeom>
          <a:noFill/>
        </p:spPr>
        <p:txBody>
          <a:bodyPr wrap="square" lIns="0" rIns="0" tIns="0" bIns="0">
            <a:spAutoFit/>
          </a:bodyPr>
          <a:lstStyle/>
          <a:p>
            <a:pPr algn="l">
              <a:spcAft>
                <a:spcPts val="800"/>
              </a:spcAft>
              <a:defRPr sz="2000" b="1">
                <a:solidFill>
                  <a:srgbClr val="172B46"/>
                </a:solidFill>
                <a:latin typeface="Aptos"/>
              </a:defRPr>
            </a:pPr>
            <a:r>
              <a:t>Review output</a:t>
            </a:r>
          </a:p>
        </p:txBody>
      </p:sp>
      <p:sp>
        <p:nvSpPr>
          <p:cNvPr id="23" name="TextBox 22"/>
          <p:cNvSpPr txBox="1"/>
          <p:nvPr/>
        </p:nvSpPr>
        <p:spPr>
          <a:xfrm>
            <a:off x="6373368" y="3127248"/>
            <a:ext cx="2157984" cy="640080"/>
          </a:xfrm>
          <a:prstGeom prst="rect">
            <a:avLst/>
          </a:prstGeom>
          <a:noFill/>
        </p:spPr>
        <p:txBody>
          <a:bodyPr wrap="square" lIns="0" rIns="0" tIns="0" bIns="0">
            <a:spAutoFit/>
          </a:bodyPr>
          <a:lstStyle/>
          <a:p>
            <a:pPr algn="l">
              <a:spcAft>
                <a:spcPts val="800"/>
              </a:spcAft>
              <a:defRPr sz="1600" b="0">
                <a:solidFill>
                  <a:srgbClr val="64778A"/>
                </a:solidFill>
                <a:latin typeface="Aptos"/>
              </a:defRPr>
            </a:pPr>
            <a:r>
              <a:t>Parse JSON into</a:t>
            </a:r>
          </a:p>
          <a:p>
            <a:pPr algn="l">
              <a:spcAft>
                <a:spcPts val="800"/>
              </a:spcAft>
              <a:defRPr sz="1600" b="0">
                <a:solidFill>
                  <a:srgbClr val="64778A"/>
                </a:solidFill>
                <a:latin typeface="Aptos"/>
              </a:defRPr>
            </a:pPr>
            <a:r>
              <a:t>weeks and study tasks</a:t>
            </a:r>
          </a:p>
        </p:txBody>
      </p:sp>
      <p:cxnSp>
        <p:nvCxnSpPr>
          <p:cNvPr id="24" name="Connector 23"/>
          <p:cNvCxnSpPr/>
          <p:nvPr/>
        </p:nvCxnSpPr>
        <p:spPr>
          <a:xfrm>
            <a:off x="8750808" y="2871216"/>
            <a:ext cx="173736" cy="0"/>
          </a:xfrm>
          <a:prstGeom prst="line">
            <a:avLst/>
          </a:prstGeom>
          <a:ln w="31750">
            <a:solidFill>
              <a:srgbClr val="087F8C"/>
            </a:solidFill>
          </a:ln>
        </p:spPr>
        <p:style>
          <a:lnRef idx="2">
            <a:schemeClr val="accent1"/>
          </a:lnRef>
          <a:fillRef idx="0">
            <a:schemeClr val="accent1"/>
          </a:fillRef>
          <a:effectRef idx="1">
            <a:schemeClr val="accent1"/>
          </a:effectRef>
          <a:fontRef idx="minor">
            <a:schemeClr val="tx1"/>
          </a:fontRef>
        </p:style>
      </p:cxnSp>
      <p:sp>
        <p:nvSpPr>
          <p:cNvPr id="25" name="Chevron 24"/>
          <p:cNvSpPr/>
          <p:nvPr/>
        </p:nvSpPr>
        <p:spPr>
          <a:xfrm>
            <a:off x="8833104" y="2798064"/>
            <a:ext cx="146304" cy="146304"/>
          </a:xfrm>
          <a:prstGeom prst="chevron">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8970263" y="1901952"/>
            <a:ext cx="2578608" cy="1975104"/>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80576" y="2103120"/>
            <a:ext cx="457200" cy="365760"/>
          </a:xfrm>
          <a:prstGeom prst="rect">
            <a:avLst/>
          </a:prstGeom>
          <a:noFill/>
        </p:spPr>
        <p:txBody>
          <a:bodyPr wrap="square" lIns="0" rIns="0" tIns="0" bIns="0">
            <a:spAutoFit/>
          </a:bodyPr>
          <a:lstStyle/>
          <a:p>
            <a:pPr algn="l">
              <a:spcAft>
                <a:spcPts val="800"/>
              </a:spcAft>
              <a:defRPr sz="2500" b="1">
                <a:solidFill>
                  <a:srgbClr val="087F8C"/>
                </a:solidFill>
                <a:latin typeface="Aptos"/>
              </a:defRPr>
            </a:pPr>
            <a:r>
              <a:t>4</a:t>
            </a:r>
          </a:p>
        </p:txBody>
      </p:sp>
      <p:sp>
        <p:nvSpPr>
          <p:cNvPr id="28" name="TextBox 27"/>
          <p:cNvSpPr txBox="1"/>
          <p:nvPr/>
        </p:nvSpPr>
        <p:spPr>
          <a:xfrm>
            <a:off x="9180576" y="2651760"/>
            <a:ext cx="2157984" cy="393192"/>
          </a:xfrm>
          <a:prstGeom prst="rect">
            <a:avLst/>
          </a:prstGeom>
          <a:noFill/>
        </p:spPr>
        <p:txBody>
          <a:bodyPr wrap="square" lIns="0" rIns="0" tIns="0" bIns="0">
            <a:spAutoFit/>
          </a:bodyPr>
          <a:lstStyle/>
          <a:p>
            <a:pPr algn="l">
              <a:spcAft>
                <a:spcPts val="800"/>
              </a:spcAft>
              <a:defRPr sz="2000" b="1">
                <a:solidFill>
                  <a:srgbClr val="172B46"/>
                </a:solidFill>
                <a:latin typeface="Aptos"/>
              </a:defRPr>
            </a:pPr>
            <a:r>
              <a:t>Save tasks</a:t>
            </a:r>
          </a:p>
        </p:txBody>
      </p:sp>
      <p:sp>
        <p:nvSpPr>
          <p:cNvPr id="29" name="TextBox 28"/>
          <p:cNvSpPr txBox="1"/>
          <p:nvPr/>
        </p:nvSpPr>
        <p:spPr>
          <a:xfrm>
            <a:off x="9180576" y="3127248"/>
            <a:ext cx="2157984" cy="640080"/>
          </a:xfrm>
          <a:prstGeom prst="rect">
            <a:avLst/>
          </a:prstGeom>
          <a:noFill/>
        </p:spPr>
        <p:txBody>
          <a:bodyPr wrap="square" lIns="0" rIns="0" tIns="0" bIns="0">
            <a:spAutoFit/>
          </a:bodyPr>
          <a:lstStyle/>
          <a:p>
            <a:pPr algn="l">
              <a:spcAft>
                <a:spcPts val="800"/>
              </a:spcAft>
              <a:defRPr sz="1600" b="0">
                <a:solidFill>
                  <a:srgbClr val="64778A"/>
                </a:solidFill>
                <a:latin typeface="Aptos"/>
              </a:defRPr>
            </a:pPr>
            <a:r>
              <a:t>Convert the plan;</a:t>
            </a:r>
          </a:p>
          <a:p>
            <a:pPr algn="l">
              <a:spcAft>
                <a:spcPts val="800"/>
              </a:spcAft>
              <a:defRPr sz="1600" b="0">
                <a:solidFill>
                  <a:srgbClr val="64778A"/>
                </a:solidFill>
                <a:latin typeface="Aptos"/>
              </a:defRPr>
            </a:pPr>
            <a:r>
              <a:t>store tasks in Room</a:t>
            </a:r>
          </a:p>
        </p:txBody>
      </p:sp>
      <p:sp>
        <p:nvSpPr>
          <p:cNvPr id="30" name="Rounded Rectangle 29"/>
          <p:cNvSpPr/>
          <p:nvPr/>
        </p:nvSpPr>
        <p:spPr>
          <a:xfrm>
            <a:off x="548640" y="4160520"/>
            <a:ext cx="5486400" cy="1901952"/>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68096" y="4361688"/>
            <a:ext cx="5047488" cy="594360"/>
          </a:xfrm>
          <a:prstGeom prst="rect">
            <a:avLst/>
          </a:prstGeom>
          <a:noFill/>
        </p:spPr>
        <p:txBody>
          <a:bodyPr wrap="square" lIns="0" rIns="0" tIns="0" bIns="0">
            <a:spAutoFit/>
          </a:bodyPr>
          <a:lstStyle/>
          <a:p>
            <a:pPr algn="l">
              <a:spcAft>
                <a:spcPts val="800"/>
              </a:spcAft>
              <a:defRPr sz="2200" b="1">
                <a:solidFill>
                  <a:srgbClr val="172B46"/>
                </a:solidFill>
                <a:latin typeface="Aptos"/>
              </a:defRPr>
            </a:pPr>
            <a:r>
              <a:t>Local storage</a:t>
            </a:r>
          </a:p>
        </p:txBody>
      </p:sp>
      <p:sp>
        <p:nvSpPr>
          <p:cNvPr id="32" name="TextBox 31"/>
          <p:cNvSpPr txBox="1"/>
          <p:nvPr/>
        </p:nvSpPr>
        <p:spPr>
          <a:xfrm>
            <a:off x="768096" y="4965192"/>
            <a:ext cx="5047488" cy="969264"/>
          </a:xfrm>
          <a:prstGeom prst="rect">
            <a:avLst/>
          </a:prstGeom>
          <a:noFill/>
        </p:spPr>
        <p:txBody>
          <a:bodyPr wrap="square" lIns="0" rIns="0" tIns="0" bIns="0">
            <a:spAutoFit/>
          </a:bodyPr>
          <a:lstStyle/>
          <a:p>
            <a:pPr algn="l">
              <a:spcAft>
                <a:spcPts val="800"/>
              </a:spcAft>
              <a:defRPr sz="1800" b="0">
                <a:solidFill>
                  <a:srgbClr val="64778A"/>
                </a:solidFill>
                <a:latin typeface="Aptos"/>
              </a:defRPr>
            </a:pPr>
            <a:r>
              <a:t>8 Room entities: user, company, question, task, note, experience, resource and bookmark.</a:t>
            </a:r>
          </a:p>
        </p:txBody>
      </p:sp>
      <p:sp>
        <p:nvSpPr>
          <p:cNvPr id="33" name="Rounded Rectangle 32"/>
          <p:cNvSpPr/>
          <p:nvPr/>
        </p:nvSpPr>
        <p:spPr>
          <a:xfrm>
            <a:off x="6263640" y="4160520"/>
            <a:ext cx="5367528" cy="1901952"/>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83096" y="4361688"/>
            <a:ext cx="4928616" cy="594360"/>
          </a:xfrm>
          <a:prstGeom prst="rect">
            <a:avLst/>
          </a:prstGeom>
          <a:noFill/>
        </p:spPr>
        <p:txBody>
          <a:bodyPr wrap="square" lIns="0" rIns="0" tIns="0" bIns="0">
            <a:spAutoFit/>
          </a:bodyPr>
          <a:lstStyle/>
          <a:p>
            <a:pPr algn="l">
              <a:spcAft>
                <a:spcPts val="800"/>
              </a:spcAft>
              <a:defRPr sz="2200" b="1">
                <a:solidFill>
                  <a:srgbClr val="172B46"/>
                </a:solidFill>
                <a:latin typeface="Aptos"/>
              </a:defRPr>
            </a:pPr>
            <a:r>
              <a:t>Response handling</a:t>
            </a:r>
          </a:p>
        </p:txBody>
      </p:sp>
      <p:sp>
        <p:nvSpPr>
          <p:cNvPr id="35" name="TextBox 34"/>
          <p:cNvSpPr txBox="1"/>
          <p:nvPr/>
        </p:nvSpPr>
        <p:spPr>
          <a:xfrm>
            <a:off x="6483096" y="4965192"/>
            <a:ext cx="4928616" cy="969264"/>
          </a:xfrm>
          <a:prstGeom prst="rect">
            <a:avLst/>
          </a:prstGeom>
          <a:noFill/>
        </p:spPr>
        <p:txBody>
          <a:bodyPr wrap="square" lIns="0" rIns="0" tIns="0" bIns="0">
            <a:spAutoFit/>
          </a:bodyPr>
          <a:lstStyle/>
          <a:p>
            <a:pPr algn="l">
              <a:spcAft>
                <a:spcPts val="800"/>
              </a:spcAft>
              <a:defRPr sz="1800" b="0">
                <a:solidFill>
                  <a:srgbClr val="64778A"/>
                </a:solidFill>
                <a:latin typeface="Aptos"/>
              </a:defRPr>
            </a:pPr>
            <a:r>
              <a:t>Loading / success / error UI states.</a:t>
            </a:r>
          </a:p>
          <a:p>
            <a:pPr algn="l">
              <a:spcAft>
                <a:spcPts val="800"/>
              </a:spcAft>
              <a:defRPr sz="1800" b="0">
                <a:solidFill>
                  <a:srgbClr val="64778A"/>
                </a:solidFill>
                <a:latin typeface="Aptos"/>
              </a:defRPr>
            </a:pPr>
            <a:r>
              <a:t>Saved records work offline; AI needs internet.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0972800" cy="256032"/>
          </a:xfrm>
          <a:prstGeom prst="rect">
            <a:avLst/>
          </a:prstGeom>
          <a:noFill/>
        </p:spPr>
        <p:txBody>
          <a:bodyPr wrap="square" lIns="0" rIns="0" tIns="0" bIns="0">
            <a:spAutoFit/>
          </a:bodyPr>
          <a:lstStyle/>
          <a:p>
            <a:pPr algn="l">
              <a:spcAft>
                <a:spcPts val="800"/>
              </a:spcAft>
              <a:defRPr sz="1100" b="1">
                <a:solidFill>
                  <a:srgbClr val="087F8C"/>
                </a:solidFill>
                <a:latin typeface="Aptos"/>
              </a:defRPr>
            </a:pPr>
            <a:r>
              <a:t>ACTUAL ANDROID EMULATOR CAPTURES</a:t>
            </a:r>
          </a:p>
        </p:txBody>
      </p:sp>
      <p:sp>
        <p:nvSpPr>
          <p:cNvPr id="4" name="TextBox 3"/>
          <p:cNvSpPr txBox="1"/>
          <p:nvPr/>
        </p:nvSpPr>
        <p:spPr>
          <a:xfrm>
            <a:off x="502920" y="777240"/>
            <a:ext cx="10972800" cy="640080"/>
          </a:xfrm>
          <a:prstGeom prst="rect">
            <a:avLst/>
          </a:prstGeom>
          <a:noFill/>
        </p:spPr>
        <p:txBody>
          <a:bodyPr wrap="square" lIns="0" rIns="0" tIns="0" bIns="0">
            <a:spAutoFit/>
          </a:bodyPr>
          <a:lstStyle/>
          <a:p>
            <a:pPr algn="l">
              <a:spcAft>
                <a:spcPts val="800"/>
              </a:spcAft>
              <a:defRPr sz="3200" b="1">
                <a:solidFill>
                  <a:srgbClr val="172B46"/>
                </a:solidFill>
                <a:latin typeface="Aptos"/>
              </a:defRPr>
            </a:pPr>
            <a:r>
              <a:t>Important screens in the working application</a:t>
            </a:r>
          </a:p>
        </p:txBody>
      </p:sp>
      <p:sp>
        <p:nvSpPr>
          <p:cNvPr id="5" name="Rectangle 4"/>
          <p:cNvSpPr/>
          <p:nvPr/>
        </p:nvSpPr>
        <p:spPr>
          <a:xfrm>
            <a:off x="502920" y="6391656"/>
            <a:ext cx="11155680" cy="10972"/>
          </a:xfrm>
          <a:prstGeom prst="rect">
            <a:avLst/>
          </a:prstGeom>
          <a:solidFill>
            <a:srgbClr val="D7E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10528"/>
            <a:ext cx="10058400" cy="182880"/>
          </a:xfrm>
          <a:prstGeom prst="rect">
            <a:avLst/>
          </a:prstGeom>
          <a:noFill/>
        </p:spPr>
        <p:txBody>
          <a:bodyPr wrap="square" lIns="0" rIns="0" tIns="0" bIns="0">
            <a:spAutoFit/>
          </a:bodyPr>
          <a:lstStyle/>
          <a:p>
            <a:pPr algn="l">
              <a:spcAft>
                <a:spcPts val="800"/>
              </a:spcAft>
              <a:defRPr sz="900" b="0">
                <a:solidFill>
                  <a:srgbClr val="64778A"/>
                </a:solidFill>
                <a:latin typeface="Aptos"/>
              </a:defRPr>
            </a:pPr>
            <a:r>
              <a:t>PLACEMENT COMPANION   /   MOBILE APPLICATION DEVELOPMENT LABORATORY</a:t>
            </a:r>
          </a:p>
        </p:txBody>
      </p:sp>
      <p:sp>
        <p:nvSpPr>
          <p:cNvPr id="7" name="TextBox 6"/>
          <p:cNvSpPr txBox="1"/>
          <p:nvPr/>
        </p:nvSpPr>
        <p:spPr>
          <a:xfrm>
            <a:off x="11018520" y="6473952"/>
            <a:ext cx="640080" cy="256032"/>
          </a:xfrm>
          <a:prstGeom prst="rect">
            <a:avLst/>
          </a:prstGeom>
          <a:noFill/>
        </p:spPr>
        <p:txBody>
          <a:bodyPr wrap="square" lIns="0" rIns="0" tIns="0" bIns="0">
            <a:spAutoFit/>
          </a:bodyPr>
          <a:lstStyle/>
          <a:p>
            <a:pPr algn="r">
              <a:spcAft>
                <a:spcPts val="800"/>
              </a:spcAft>
              <a:defRPr sz="1000" b="1">
                <a:solidFill>
                  <a:srgbClr val="64778A"/>
                </a:solidFill>
                <a:latin typeface="Aptos"/>
              </a:defRPr>
            </a:pPr>
            <a:r>
              <a:t>09 / 12</a:t>
            </a:r>
          </a:p>
        </p:txBody>
      </p:sp>
      <p:sp>
        <p:nvSpPr>
          <p:cNvPr id="8" name="Rounded Rectangle 7"/>
          <p:cNvSpPr/>
          <p:nvPr/>
        </p:nvSpPr>
        <p:spPr>
          <a:xfrm>
            <a:off x="699515" y="1732788"/>
            <a:ext cx="1849374" cy="3986784"/>
          </a:xfrm>
          <a:prstGeom prst="roundRect">
            <a:avLst>
              <a:gd name="adj" fmla="val 12000"/>
            </a:avLst>
          </a:prstGeom>
          <a:solidFill>
            <a:srgbClr val="17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home.png"/>
          <p:cNvPicPr>
            <a:picLocks noChangeAspect="1"/>
          </p:cNvPicPr>
          <p:nvPr/>
        </p:nvPicPr>
        <p:blipFill>
          <a:blip r:embed="rId2"/>
          <a:stretch>
            <a:fillRect/>
          </a:stretch>
        </p:blipFill>
        <p:spPr>
          <a:xfrm>
            <a:off x="749808" y="1783080"/>
            <a:ext cx="1748790" cy="3886200"/>
          </a:xfrm>
          <a:prstGeom prst="rect">
            <a:avLst/>
          </a:prstGeom>
        </p:spPr>
      </p:pic>
      <p:sp>
        <p:nvSpPr>
          <p:cNvPr id="10" name="TextBox 9"/>
          <p:cNvSpPr txBox="1"/>
          <p:nvPr/>
        </p:nvSpPr>
        <p:spPr>
          <a:xfrm>
            <a:off x="521207" y="5824728"/>
            <a:ext cx="2205990" cy="283464"/>
          </a:xfrm>
          <a:prstGeom prst="rect">
            <a:avLst/>
          </a:prstGeom>
          <a:noFill/>
        </p:spPr>
        <p:txBody>
          <a:bodyPr wrap="square" lIns="0" rIns="0" tIns="0" bIns="0">
            <a:spAutoFit/>
          </a:bodyPr>
          <a:lstStyle/>
          <a:p>
            <a:pPr algn="ctr">
              <a:spcAft>
                <a:spcPts val="800"/>
              </a:spcAft>
              <a:defRPr sz="1900" b="1">
                <a:solidFill>
                  <a:srgbClr val="172B46"/>
                </a:solidFill>
                <a:latin typeface="Aptos"/>
              </a:defRPr>
            </a:pPr>
            <a:r>
              <a:t>Home</a:t>
            </a:r>
          </a:p>
        </p:txBody>
      </p:sp>
      <p:sp>
        <p:nvSpPr>
          <p:cNvPr id="11" name="TextBox 10"/>
          <p:cNvSpPr txBox="1"/>
          <p:nvPr/>
        </p:nvSpPr>
        <p:spPr>
          <a:xfrm>
            <a:off x="338327" y="6144768"/>
            <a:ext cx="2571750" cy="228600"/>
          </a:xfrm>
          <a:prstGeom prst="rect">
            <a:avLst/>
          </a:prstGeom>
          <a:noFill/>
        </p:spPr>
        <p:txBody>
          <a:bodyPr wrap="square" lIns="0" rIns="0" tIns="0" bIns="0">
            <a:spAutoFit/>
          </a:bodyPr>
          <a:lstStyle/>
          <a:p>
            <a:pPr algn="ctr">
              <a:spcAft>
                <a:spcPts val="800"/>
              </a:spcAft>
              <a:defRPr sz="1200" b="0">
                <a:solidFill>
                  <a:srgbClr val="64778A"/>
                </a:solidFill>
                <a:latin typeface="Aptos"/>
              </a:defRPr>
            </a:pPr>
            <a:r>
              <a:t>Quick actions &amp; progress</a:t>
            </a:r>
          </a:p>
        </p:txBody>
      </p:sp>
      <p:sp>
        <p:nvSpPr>
          <p:cNvPr id="12" name="Rounded Rectangle 11"/>
          <p:cNvSpPr/>
          <p:nvPr/>
        </p:nvSpPr>
        <p:spPr>
          <a:xfrm>
            <a:off x="3589020" y="1732788"/>
            <a:ext cx="1849374" cy="3986784"/>
          </a:xfrm>
          <a:prstGeom prst="roundRect">
            <a:avLst>
              <a:gd name="adj" fmla="val 12000"/>
            </a:avLst>
          </a:prstGeom>
          <a:solidFill>
            <a:srgbClr val="17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planner-demo.png"/>
          <p:cNvPicPr>
            <a:picLocks noChangeAspect="1"/>
          </p:cNvPicPr>
          <p:nvPr/>
        </p:nvPicPr>
        <p:blipFill>
          <a:blip r:embed="rId3"/>
          <a:stretch>
            <a:fillRect/>
          </a:stretch>
        </p:blipFill>
        <p:spPr>
          <a:xfrm>
            <a:off x="3639312" y="1783080"/>
            <a:ext cx="1748790" cy="3886200"/>
          </a:xfrm>
          <a:prstGeom prst="rect">
            <a:avLst/>
          </a:prstGeom>
        </p:spPr>
      </p:pic>
      <p:sp>
        <p:nvSpPr>
          <p:cNvPr id="14" name="TextBox 13"/>
          <p:cNvSpPr txBox="1"/>
          <p:nvPr/>
        </p:nvSpPr>
        <p:spPr>
          <a:xfrm>
            <a:off x="3410712" y="5824728"/>
            <a:ext cx="2205990" cy="283464"/>
          </a:xfrm>
          <a:prstGeom prst="rect">
            <a:avLst/>
          </a:prstGeom>
          <a:noFill/>
        </p:spPr>
        <p:txBody>
          <a:bodyPr wrap="square" lIns="0" rIns="0" tIns="0" bIns="0">
            <a:spAutoFit/>
          </a:bodyPr>
          <a:lstStyle/>
          <a:p>
            <a:pPr algn="ctr">
              <a:spcAft>
                <a:spcPts val="800"/>
              </a:spcAft>
              <a:defRPr sz="1900" b="1">
                <a:solidFill>
                  <a:srgbClr val="172B46"/>
                </a:solidFill>
                <a:latin typeface="Aptos"/>
              </a:defRPr>
            </a:pPr>
            <a:r>
              <a:t>Study planner</a:t>
            </a:r>
          </a:p>
        </p:txBody>
      </p:sp>
      <p:sp>
        <p:nvSpPr>
          <p:cNvPr id="15" name="TextBox 14"/>
          <p:cNvSpPr txBox="1"/>
          <p:nvPr/>
        </p:nvSpPr>
        <p:spPr>
          <a:xfrm>
            <a:off x="3227832" y="6144768"/>
            <a:ext cx="2571750" cy="228600"/>
          </a:xfrm>
          <a:prstGeom prst="rect">
            <a:avLst/>
          </a:prstGeom>
          <a:noFill/>
        </p:spPr>
        <p:txBody>
          <a:bodyPr wrap="square" lIns="0" rIns="0" tIns="0" bIns="0">
            <a:spAutoFit/>
          </a:bodyPr>
          <a:lstStyle/>
          <a:p>
            <a:pPr algn="ctr">
              <a:spcAft>
                <a:spcPts val="800"/>
              </a:spcAft>
              <a:defRPr sz="1200" b="0">
                <a:solidFill>
                  <a:srgbClr val="64778A"/>
                </a:solidFill>
                <a:latin typeface="Aptos"/>
              </a:defRPr>
            </a:pPr>
            <a:r>
              <a:t>Fresh task entry</a:t>
            </a:r>
          </a:p>
        </p:txBody>
      </p:sp>
      <p:sp>
        <p:nvSpPr>
          <p:cNvPr id="16" name="Rounded Rectangle 15"/>
          <p:cNvSpPr/>
          <p:nvPr/>
        </p:nvSpPr>
        <p:spPr>
          <a:xfrm>
            <a:off x="6478524" y="1732788"/>
            <a:ext cx="1849374" cy="3986784"/>
          </a:xfrm>
          <a:prstGeom prst="roundRect">
            <a:avLst>
              <a:gd name="adj" fmla="val 12000"/>
            </a:avLst>
          </a:prstGeom>
          <a:solidFill>
            <a:srgbClr val="17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ai-output.png"/>
          <p:cNvPicPr>
            <a:picLocks noChangeAspect="1"/>
          </p:cNvPicPr>
          <p:nvPr/>
        </p:nvPicPr>
        <p:blipFill>
          <a:blip r:embed="rId4"/>
          <a:stretch>
            <a:fillRect/>
          </a:stretch>
        </p:blipFill>
        <p:spPr>
          <a:xfrm>
            <a:off x="6528816" y="1783080"/>
            <a:ext cx="1748790" cy="3886200"/>
          </a:xfrm>
          <a:prstGeom prst="rect">
            <a:avLst/>
          </a:prstGeom>
        </p:spPr>
      </p:pic>
      <p:sp>
        <p:nvSpPr>
          <p:cNvPr id="18" name="TextBox 17"/>
          <p:cNvSpPr txBox="1"/>
          <p:nvPr/>
        </p:nvSpPr>
        <p:spPr>
          <a:xfrm>
            <a:off x="6300216" y="5824728"/>
            <a:ext cx="2205990" cy="283464"/>
          </a:xfrm>
          <a:prstGeom prst="rect">
            <a:avLst/>
          </a:prstGeom>
          <a:noFill/>
        </p:spPr>
        <p:txBody>
          <a:bodyPr wrap="square" lIns="0" rIns="0" tIns="0" bIns="0">
            <a:spAutoFit/>
          </a:bodyPr>
          <a:lstStyle/>
          <a:p>
            <a:pPr algn="ctr">
              <a:spcAft>
                <a:spcPts val="800"/>
              </a:spcAft>
              <a:defRPr sz="1900" b="1">
                <a:solidFill>
                  <a:srgbClr val="172B46"/>
                </a:solidFill>
                <a:latin typeface="Aptos"/>
              </a:defRPr>
            </a:pPr>
            <a:r>
              <a:t>AI roadmap</a:t>
            </a:r>
          </a:p>
        </p:txBody>
      </p:sp>
      <p:sp>
        <p:nvSpPr>
          <p:cNvPr id="19" name="TextBox 18"/>
          <p:cNvSpPr txBox="1"/>
          <p:nvPr/>
        </p:nvSpPr>
        <p:spPr>
          <a:xfrm>
            <a:off x="6117336" y="6144768"/>
            <a:ext cx="2571750" cy="228600"/>
          </a:xfrm>
          <a:prstGeom prst="rect">
            <a:avLst/>
          </a:prstGeom>
          <a:noFill/>
        </p:spPr>
        <p:txBody>
          <a:bodyPr wrap="square" lIns="0" rIns="0" tIns="0" bIns="0">
            <a:spAutoFit/>
          </a:bodyPr>
          <a:lstStyle/>
          <a:p>
            <a:pPr algn="ctr">
              <a:spcAft>
                <a:spcPts val="800"/>
              </a:spcAft>
              <a:defRPr sz="1200" b="0">
                <a:solidFill>
                  <a:srgbClr val="64778A"/>
                </a:solidFill>
                <a:latin typeface="Aptos"/>
              </a:defRPr>
            </a:pPr>
            <a:r>
              <a:t>Real API output</a:t>
            </a:r>
          </a:p>
        </p:txBody>
      </p:sp>
      <p:sp>
        <p:nvSpPr>
          <p:cNvPr id="20" name="Rounded Rectangle 19"/>
          <p:cNvSpPr/>
          <p:nvPr/>
        </p:nvSpPr>
        <p:spPr>
          <a:xfrm>
            <a:off x="9368028" y="1732788"/>
            <a:ext cx="1849374" cy="3986784"/>
          </a:xfrm>
          <a:prstGeom prst="roundRect">
            <a:avLst>
              <a:gd name="adj" fmla="val 12000"/>
            </a:avLst>
          </a:prstGeom>
          <a:solidFill>
            <a:srgbClr val="17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companies.png"/>
          <p:cNvPicPr>
            <a:picLocks noChangeAspect="1"/>
          </p:cNvPicPr>
          <p:nvPr/>
        </p:nvPicPr>
        <p:blipFill>
          <a:blip r:embed="rId5"/>
          <a:stretch>
            <a:fillRect/>
          </a:stretch>
        </p:blipFill>
        <p:spPr>
          <a:xfrm>
            <a:off x="9418320" y="1783080"/>
            <a:ext cx="1748790" cy="3886200"/>
          </a:xfrm>
          <a:prstGeom prst="rect">
            <a:avLst/>
          </a:prstGeom>
        </p:spPr>
      </p:pic>
      <p:sp>
        <p:nvSpPr>
          <p:cNvPr id="22" name="TextBox 21"/>
          <p:cNvSpPr txBox="1"/>
          <p:nvPr/>
        </p:nvSpPr>
        <p:spPr>
          <a:xfrm>
            <a:off x="9189720" y="5824728"/>
            <a:ext cx="2205990" cy="283464"/>
          </a:xfrm>
          <a:prstGeom prst="rect">
            <a:avLst/>
          </a:prstGeom>
          <a:noFill/>
        </p:spPr>
        <p:txBody>
          <a:bodyPr wrap="square" lIns="0" rIns="0" tIns="0" bIns="0">
            <a:spAutoFit/>
          </a:bodyPr>
          <a:lstStyle/>
          <a:p>
            <a:pPr algn="ctr">
              <a:spcAft>
                <a:spcPts val="800"/>
              </a:spcAft>
              <a:defRPr sz="1900" b="1">
                <a:solidFill>
                  <a:srgbClr val="172B46"/>
                </a:solidFill>
                <a:latin typeface="Aptos"/>
              </a:defRPr>
            </a:pPr>
            <a:r>
              <a:t>Companies</a:t>
            </a:r>
          </a:p>
        </p:txBody>
      </p:sp>
      <p:sp>
        <p:nvSpPr>
          <p:cNvPr id="23" name="TextBox 22"/>
          <p:cNvSpPr txBox="1"/>
          <p:nvPr/>
        </p:nvSpPr>
        <p:spPr>
          <a:xfrm>
            <a:off x="9006840" y="6144768"/>
            <a:ext cx="2571750" cy="228600"/>
          </a:xfrm>
          <a:prstGeom prst="rect">
            <a:avLst/>
          </a:prstGeom>
          <a:noFill/>
        </p:spPr>
        <p:txBody>
          <a:bodyPr wrap="square" lIns="0" rIns="0" tIns="0" bIns="0">
            <a:spAutoFit/>
          </a:bodyPr>
          <a:lstStyle/>
          <a:p>
            <a:pPr algn="ctr">
              <a:spcAft>
                <a:spcPts val="800"/>
              </a:spcAft>
              <a:defRPr sz="1200" b="0">
                <a:solidFill>
                  <a:srgbClr val="64778A"/>
                </a:solidFill>
                <a:latin typeface="Aptos"/>
              </a:defRPr>
            </a:pPr>
            <a:r>
              <a:t>Search &amp; company cards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0972800" cy="256032"/>
          </a:xfrm>
          <a:prstGeom prst="rect">
            <a:avLst/>
          </a:prstGeom>
          <a:noFill/>
        </p:spPr>
        <p:txBody>
          <a:bodyPr wrap="square" lIns="0" rIns="0" tIns="0" bIns="0">
            <a:spAutoFit/>
          </a:bodyPr>
          <a:lstStyle/>
          <a:p>
            <a:pPr algn="l">
              <a:spcAft>
                <a:spcPts val="800"/>
              </a:spcAft>
              <a:defRPr sz="1100" b="1">
                <a:solidFill>
                  <a:srgbClr val="087F8C"/>
                </a:solidFill>
                <a:latin typeface="Aptos"/>
              </a:defRPr>
            </a:pPr>
            <a:r>
              <a:t>VALIDATION, TESTING, RESULTS &amp; CHALLENGES</a:t>
            </a:r>
          </a:p>
        </p:txBody>
      </p:sp>
      <p:sp>
        <p:nvSpPr>
          <p:cNvPr id="4" name="TextBox 3"/>
          <p:cNvSpPr txBox="1"/>
          <p:nvPr/>
        </p:nvSpPr>
        <p:spPr>
          <a:xfrm>
            <a:off x="502920" y="777240"/>
            <a:ext cx="10972800" cy="640080"/>
          </a:xfrm>
          <a:prstGeom prst="rect">
            <a:avLst/>
          </a:prstGeom>
          <a:noFill/>
        </p:spPr>
        <p:txBody>
          <a:bodyPr wrap="square" lIns="0" rIns="0" tIns="0" bIns="0">
            <a:spAutoFit/>
          </a:bodyPr>
          <a:lstStyle/>
          <a:p>
            <a:pPr algn="l">
              <a:spcAft>
                <a:spcPts val="800"/>
              </a:spcAft>
              <a:defRPr sz="3200" b="1">
                <a:solidFill>
                  <a:srgbClr val="172B46"/>
                </a:solidFill>
                <a:latin typeface="Aptos"/>
              </a:defRPr>
            </a:pPr>
            <a:r>
              <a:t>Focused checks verify navigation and live API calls</a:t>
            </a:r>
          </a:p>
        </p:txBody>
      </p:sp>
      <p:sp>
        <p:nvSpPr>
          <p:cNvPr id="5" name="Rectangle 4"/>
          <p:cNvSpPr/>
          <p:nvPr/>
        </p:nvSpPr>
        <p:spPr>
          <a:xfrm>
            <a:off x="502920" y="6391656"/>
            <a:ext cx="11155680" cy="10972"/>
          </a:xfrm>
          <a:prstGeom prst="rect">
            <a:avLst/>
          </a:prstGeom>
          <a:solidFill>
            <a:srgbClr val="D7E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10528"/>
            <a:ext cx="10058400" cy="182880"/>
          </a:xfrm>
          <a:prstGeom prst="rect">
            <a:avLst/>
          </a:prstGeom>
          <a:noFill/>
        </p:spPr>
        <p:txBody>
          <a:bodyPr wrap="square" lIns="0" rIns="0" tIns="0" bIns="0">
            <a:spAutoFit/>
          </a:bodyPr>
          <a:lstStyle/>
          <a:p>
            <a:pPr algn="l">
              <a:spcAft>
                <a:spcPts val="800"/>
              </a:spcAft>
              <a:defRPr sz="900" b="0">
                <a:solidFill>
                  <a:srgbClr val="64778A"/>
                </a:solidFill>
                <a:latin typeface="Aptos"/>
              </a:defRPr>
            </a:pPr>
            <a:r>
              <a:t>PLACEMENT COMPANION   /   MOBILE APPLICATION DEVELOPMENT LABORATORY</a:t>
            </a:r>
          </a:p>
        </p:txBody>
      </p:sp>
      <p:sp>
        <p:nvSpPr>
          <p:cNvPr id="7" name="TextBox 6"/>
          <p:cNvSpPr txBox="1"/>
          <p:nvPr/>
        </p:nvSpPr>
        <p:spPr>
          <a:xfrm>
            <a:off x="11018520" y="6473952"/>
            <a:ext cx="640080" cy="256032"/>
          </a:xfrm>
          <a:prstGeom prst="rect">
            <a:avLst/>
          </a:prstGeom>
          <a:noFill/>
        </p:spPr>
        <p:txBody>
          <a:bodyPr wrap="square" lIns="0" rIns="0" tIns="0" bIns="0">
            <a:spAutoFit/>
          </a:bodyPr>
          <a:lstStyle/>
          <a:p>
            <a:pPr algn="r">
              <a:spcAft>
                <a:spcPts val="800"/>
              </a:spcAft>
              <a:defRPr sz="1000" b="1">
                <a:solidFill>
                  <a:srgbClr val="64778A"/>
                </a:solidFill>
                <a:latin typeface="Aptos"/>
              </a:defRPr>
            </a:pPr>
            <a:r>
              <a:t>10 / 12</a:t>
            </a:r>
          </a:p>
        </p:txBody>
      </p:sp>
      <p:sp>
        <p:nvSpPr>
          <p:cNvPr id="8" name="Rounded Rectangle 7"/>
          <p:cNvSpPr/>
          <p:nvPr/>
        </p:nvSpPr>
        <p:spPr>
          <a:xfrm>
            <a:off x="548640" y="1755648"/>
            <a:ext cx="3337560" cy="1243584"/>
          </a:xfrm>
          <a:prstGeom prst="roundRect">
            <a:avLst>
              <a:gd name="adj" fmla="val 12000"/>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1920240"/>
            <a:ext cx="2834640" cy="594360"/>
          </a:xfrm>
          <a:prstGeom prst="rect">
            <a:avLst/>
          </a:prstGeom>
          <a:noFill/>
        </p:spPr>
        <p:txBody>
          <a:bodyPr wrap="square" lIns="0" rIns="0" tIns="0" bIns="0">
            <a:spAutoFit/>
          </a:bodyPr>
          <a:lstStyle/>
          <a:p>
            <a:pPr algn="l">
              <a:spcAft>
                <a:spcPts val="800"/>
              </a:spcAft>
              <a:defRPr sz="3600" b="1">
                <a:solidFill>
                  <a:srgbClr val="FFFFFF"/>
                </a:solidFill>
                <a:latin typeface="Aptos"/>
              </a:defRPr>
            </a:pPr>
            <a:r>
              <a:t>5 + 3</a:t>
            </a:r>
          </a:p>
        </p:txBody>
      </p:sp>
      <p:sp>
        <p:nvSpPr>
          <p:cNvPr id="10" name="TextBox 9"/>
          <p:cNvSpPr txBox="1"/>
          <p:nvPr/>
        </p:nvSpPr>
        <p:spPr>
          <a:xfrm>
            <a:off x="804672" y="2551176"/>
            <a:ext cx="2834640" cy="219456"/>
          </a:xfrm>
          <a:prstGeom prst="rect">
            <a:avLst/>
          </a:prstGeom>
          <a:noFill/>
        </p:spPr>
        <p:txBody>
          <a:bodyPr wrap="square" lIns="0" rIns="0" tIns="0" bIns="0">
            <a:spAutoFit/>
          </a:bodyPr>
          <a:lstStyle/>
          <a:p>
            <a:pPr algn="l">
              <a:spcAft>
                <a:spcPts val="800"/>
              </a:spcAft>
              <a:defRPr sz="1200" b="0">
                <a:solidFill>
                  <a:srgbClr val="FFFFFF"/>
                </a:solidFill>
                <a:latin typeface="Aptos"/>
              </a:defRPr>
            </a:pPr>
            <a:r>
              <a:t>Navigation checks + live API checks</a:t>
            </a:r>
          </a:p>
        </p:txBody>
      </p:sp>
      <p:sp>
        <p:nvSpPr>
          <p:cNvPr id="11" name="TextBox 10"/>
          <p:cNvSpPr txBox="1"/>
          <p:nvPr/>
        </p:nvSpPr>
        <p:spPr>
          <a:xfrm>
            <a:off x="576072" y="3310128"/>
            <a:ext cx="3218688" cy="2240280"/>
          </a:xfrm>
          <a:prstGeom prst="rect">
            <a:avLst/>
          </a:prstGeom>
          <a:noFill/>
        </p:spPr>
        <p:txBody>
          <a:bodyPr wrap="square" lIns="0" rIns="0" tIns="0" bIns="0">
            <a:spAutoFit/>
          </a:bodyPr>
          <a:lstStyle/>
          <a:p>
            <a:pPr algn="l">
              <a:spcAft>
                <a:spcPts val="800"/>
              </a:spcAft>
              <a:defRPr sz="1900" b="0">
                <a:solidFill>
                  <a:srgbClr val="263C51"/>
                </a:solidFill>
                <a:latin typeface="Aptos"/>
              </a:defRPr>
            </a:pPr>
            <a:r>
              <a:t>Navigation: Home returns correctly from planner and other tabs.</a:t>
            </a:r>
          </a:p>
          <a:p>
            <a:pPr algn="l">
              <a:spcAft>
                <a:spcPts val="800"/>
              </a:spcAft>
              <a:defRPr sz="1900" b="0">
                <a:solidFill>
                  <a:srgbClr val="263C51"/>
                </a:solidFill>
                <a:latin typeface="Aptos"/>
              </a:defRPr>
            </a:pPr>
            <a:r>
              <a:t>API: doubt reply, structured study plan and interview feedback received.</a:t>
            </a:r>
          </a:p>
        </p:txBody>
      </p:sp>
      <p:sp>
        <p:nvSpPr>
          <p:cNvPr id="12" name="Rounded Rectangle 11"/>
          <p:cNvSpPr/>
          <p:nvPr/>
        </p:nvSpPr>
        <p:spPr>
          <a:xfrm>
            <a:off x="4160520" y="1755648"/>
            <a:ext cx="7470648" cy="4334256"/>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34840" y="1984248"/>
            <a:ext cx="6922008" cy="402336"/>
          </a:xfrm>
          <a:prstGeom prst="rect">
            <a:avLst/>
          </a:prstGeom>
          <a:noFill/>
        </p:spPr>
        <p:txBody>
          <a:bodyPr wrap="square" lIns="0" rIns="0" tIns="0" bIns="0">
            <a:spAutoFit/>
          </a:bodyPr>
          <a:lstStyle/>
          <a:p>
            <a:pPr algn="l">
              <a:spcAft>
                <a:spcPts val="800"/>
              </a:spcAft>
              <a:defRPr sz="2400" b="1">
                <a:solidFill>
                  <a:srgbClr val="172B46"/>
                </a:solidFill>
                <a:latin typeface="Aptos"/>
              </a:defRPr>
            </a:pPr>
            <a:r>
              <a:t>Challenges resolved</a:t>
            </a:r>
          </a:p>
        </p:txBody>
      </p:sp>
      <p:sp>
        <p:nvSpPr>
          <p:cNvPr id="14" name="TextBox 13"/>
          <p:cNvSpPr txBox="1"/>
          <p:nvPr/>
        </p:nvSpPr>
        <p:spPr>
          <a:xfrm>
            <a:off x="4434840" y="2633472"/>
            <a:ext cx="6922008" cy="310896"/>
          </a:xfrm>
          <a:prstGeom prst="rect">
            <a:avLst/>
          </a:prstGeom>
          <a:noFill/>
        </p:spPr>
        <p:txBody>
          <a:bodyPr wrap="square" lIns="0" rIns="0" tIns="0" bIns="0">
            <a:spAutoFit/>
          </a:bodyPr>
          <a:lstStyle/>
          <a:p>
            <a:pPr algn="l">
              <a:spcAft>
                <a:spcPts val="800"/>
              </a:spcAft>
              <a:defRPr sz="1900" b="1">
                <a:solidFill>
                  <a:srgbClr val="087F8C"/>
                </a:solidFill>
                <a:latin typeface="Aptos"/>
              </a:defRPr>
            </a:pPr>
            <a:r>
              <a:t>Build compatibility</a:t>
            </a:r>
          </a:p>
        </p:txBody>
      </p:sp>
      <p:sp>
        <p:nvSpPr>
          <p:cNvPr id="15" name="TextBox 14"/>
          <p:cNvSpPr txBox="1"/>
          <p:nvPr/>
        </p:nvSpPr>
        <p:spPr>
          <a:xfrm>
            <a:off x="4434840" y="3035808"/>
            <a:ext cx="6922008" cy="402336"/>
          </a:xfrm>
          <a:prstGeom prst="rect">
            <a:avLst/>
          </a:prstGeom>
          <a:noFill/>
        </p:spPr>
        <p:txBody>
          <a:bodyPr wrap="square" lIns="0" rIns="0" tIns="0" bIns="0">
            <a:spAutoFit/>
          </a:bodyPr>
          <a:lstStyle/>
          <a:p>
            <a:pPr algn="l">
              <a:spcAft>
                <a:spcPts val="800"/>
              </a:spcAft>
              <a:defRPr sz="1700" b="0">
                <a:solidFill>
                  <a:srgbClr val="64778A"/>
                </a:solidFill>
                <a:latin typeface="Aptos"/>
              </a:defRPr>
            </a:pPr>
            <a:r>
              <a:t>Aligned Kotlin / Room versions and Gradle plugins.</a:t>
            </a:r>
          </a:p>
        </p:txBody>
      </p:sp>
      <p:sp>
        <p:nvSpPr>
          <p:cNvPr id="16" name="TextBox 15"/>
          <p:cNvSpPr txBox="1"/>
          <p:nvPr/>
        </p:nvSpPr>
        <p:spPr>
          <a:xfrm>
            <a:off x="4434840" y="3584448"/>
            <a:ext cx="6922008" cy="310896"/>
          </a:xfrm>
          <a:prstGeom prst="rect">
            <a:avLst/>
          </a:prstGeom>
          <a:noFill/>
        </p:spPr>
        <p:txBody>
          <a:bodyPr wrap="square" lIns="0" rIns="0" tIns="0" bIns="0">
            <a:spAutoFit/>
          </a:bodyPr>
          <a:lstStyle/>
          <a:p>
            <a:pPr algn="l">
              <a:spcAft>
                <a:spcPts val="800"/>
              </a:spcAft>
              <a:defRPr sz="1900" b="1">
                <a:solidFill>
                  <a:srgbClr val="087F8C"/>
                </a:solidFill>
                <a:latin typeface="Aptos"/>
              </a:defRPr>
            </a:pPr>
            <a:r>
              <a:t>Unavailable AI model</a:t>
            </a:r>
          </a:p>
        </p:txBody>
      </p:sp>
      <p:sp>
        <p:nvSpPr>
          <p:cNvPr id="17" name="TextBox 16"/>
          <p:cNvSpPr txBox="1"/>
          <p:nvPr/>
        </p:nvSpPr>
        <p:spPr>
          <a:xfrm>
            <a:off x="4434840" y="3986784"/>
            <a:ext cx="6922008" cy="402336"/>
          </a:xfrm>
          <a:prstGeom prst="rect">
            <a:avLst/>
          </a:prstGeom>
          <a:noFill/>
        </p:spPr>
        <p:txBody>
          <a:bodyPr wrap="square" lIns="0" rIns="0" tIns="0" bIns="0">
            <a:spAutoFit/>
          </a:bodyPr>
          <a:lstStyle/>
          <a:p>
            <a:pPr algn="l">
              <a:spcAft>
                <a:spcPts val="800"/>
              </a:spcAft>
              <a:defRPr sz="1700" b="0">
                <a:solidFill>
                  <a:srgbClr val="64778A"/>
                </a:solidFill>
                <a:latin typeface="Aptos"/>
              </a:defRPr>
            </a:pPr>
            <a:r>
              <a:t>Updated the model; verified all three API functions.</a:t>
            </a:r>
          </a:p>
        </p:txBody>
      </p:sp>
      <p:sp>
        <p:nvSpPr>
          <p:cNvPr id="18" name="TextBox 17"/>
          <p:cNvSpPr txBox="1"/>
          <p:nvPr/>
        </p:nvSpPr>
        <p:spPr>
          <a:xfrm>
            <a:off x="4434840" y="4535424"/>
            <a:ext cx="6922008" cy="310896"/>
          </a:xfrm>
          <a:prstGeom prst="rect">
            <a:avLst/>
          </a:prstGeom>
          <a:noFill/>
        </p:spPr>
        <p:txBody>
          <a:bodyPr wrap="square" lIns="0" rIns="0" tIns="0" bIns="0">
            <a:spAutoFit/>
          </a:bodyPr>
          <a:lstStyle/>
          <a:p>
            <a:pPr algn="l">
              <a:spcAft>
                <a:spcPts val="800"/>
              </a:spcAft>
              <a:defRPr sz="1900" b="1">
                <a:solidFill>
                  <a:srgbClr val="087F8C"/>
                </a:solidFill>
                <a:latin typeface="Aptos"/>
              </a:defRPr>
            </a:pPr>
            <a:r>
              <a:t>Home returning to Planner</a:t>
            </a:r>
          </a:p>
        </p:txBody>
      </p:sp>
      <p:sp>
        <p:nvSpPr>
          <p:cNvPr id="19" name="TextBox 18"/>
          <p:cNvSpPr txBox="1"/>
          <p:nvPr/>
        </p:nvSpPr>
        <p:spPr>
          <a:xfrm>
            <a:off x="4434840" y="4937760"/>
            <a:ext cx="6922008" cy="402336"/>
          </a:xfrm>
          <a:prstGeom prst="rect">
            <a:avLst/>
          </a:prstGeom>
          <a:noFill/>
        </p:spPr>
        <p:txBody>
          <a:bodyPr wrap="square" lIns="0" rIns="0" tIns="0" bIns="0">
            <a:spAutoFit/>
          </a:bodyPr>
          <a:lstStyle/>
          <a:p>
            <a:pPr algn="l">
              <a:spcAft>
                <a:spcPts val="800"/>
              </a:spcAft>
              <a:defRPr sz="1700" b="0">
                <a:solidFill>
                  <a:srgbClr val="64778A"/>
                </a:solidFill>
                <a:latin typeface="Aptos"/>
              </a:defRPr>
            </a:pPr>
            <a:r>
              <a:t>Corrected saved navigation-state restoration.</a:t>
            </a:r>
          </a:p>
        </p:txBody>
      </p:sp>
      <p:sp>
        <p:nvSpPr>
          <p:cNvPr id="20" name="TextBox 19"/>
          <p:cNvSpPr txBox="1"/>
          <p:nvPr/>
        </p:nvSpPr>
        <p:spPr>
          <a:xfrm>
            <a:off x="585216" y="5824728"/>
            <a:ext cx="3310128" cy="338328"/>
          </a:xfrm>
          <a:prstGeom prst="rect">
            <a:avLst/>
          </a:prstGeom>
          <a:noFill/>
        </p:spPr>
        <p:txBody>
          <a:bodyPr wrap="square" lIns="0" rIns="0" tIns="0" bIns="0">
            <a:spAutoFit/>
          </a:bodyPr>
          <a:lstStyle/>
          <a:p>
            <a:pPr algn="l">
              <a:spcAft>
                <a:spcPts val="800"/>
              </a:spcAft>
              <a:defRPr sz="1100" b="1">
                <a:solidFill>
                  <a:srgbClr val="087F8C"/>
                </a:solidFill>
                <a:latin typeface="Aptos"/>
              </a:defRPr>
            </a:pPr>
            <a:r>
              <a:t>Validation: empty tasks / answers guarded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0972800" cy="256032"/>
          </a:xfrm>
          <a:prstGeom prst="rect">
            <a:avLst/>
          </a:prstGeom>
          <a:noFill/>
        </p:spPr>
        <p:txBody>
          <a:bodyPr wrap="square" lIns="0" rIns="0" tIns="0" bIns="0">
            <a:spAutoFit/>
          </a:bodyPr>
          <a:lstStyle/>
          <a:p>
            <a:pPr algn="l">
              <a:spcAft>
                <a:spcPts val="800"/>
              </a:spcAft>
              <a:defRPr sz="1100" b="1">
                <a:solidFill>
                  <a:srgbClr val="087F8C"/>
                </a:solidFill>
                <a:latin typeface="Aptos"/>
              </a:defRPr>
            </a:pPr>
            <a:r>
              <a:t>SUGGESTED CONTRIBUTION SPLIT — CONFIRM ACTUAL OWNERSHIP</a:t>
            </a:r>
          </a:p>
        </p:txBody>
      </p:sp>
      <p:sp>
        <p:nvSpPr>
          <p:cNvPr id="4" name="TextBox 3"/>
          <p:cNvSpPr txBox="1"/>
          <p:nvPr/>
        </p:nvSpPr>
        <p:spPr>
          <a:xfrm>
            <a:off x="502920" y="777240"/>
            <a:ext cx="10972800" cy="640080"/>
          </a:xfrm>
          <a:prstGeom prst="rect">
            <a:avLst/>
          </a:prstGeom>
          <a:noFill/>
        </p:spPr>
        <p:txBody>
          <a:bodyPr wrap="square" lIns="0" rIns="0" tIns="0" bIns="0">
            <a:spAutoFit/>
          </a:bodyPr>
          <a:lstStyle/>
          <a:p>
            <a:pPr algn="l">
              <a:spcAft>
                <a:spcPts val="800"/>
              </a:spcAft>
              <a:defRPr sz="3200" b="1">
                <a:solidFill>
                  <a:srgbClr val="172B46"/>
                </a:solidFill>
                <a:latin typeface="Aptos"/>
              </a:defRPr>
            </a:pPr>
            <a:r>
              <a:t>Team delivery and individual explanation</a:t>
            </a:r>
          </a:p>
        </p:txBody>
      </p:sp>
      <p:sp>
        <p:nvSpPr>
          <p:cNvPr id="5" name="Rectangle 4"/>
          <p:cNvSpPr/>
          <p:nvPr/>
        </p:nvSpPr>
        <p:spPr>
          <a:xfrm>
            <a:off x="502920" y="6391656"/>
            <a:ext cx="11155680" cy="10972"/>
          </a:xfrm>
          <a:prstGeom prst="rect">
            <a:avLst/>
          </a:prstGeom>
          <a:solidFill>
            <a:srgbClr val="D7E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10528"/>
            <a:ext cx="10058400" cy="182880"/>
          </a:xfrm>
          <a:prstGeom prst="rect">
            <a:avLst/>
          </a:prstGeom>
          <a:noFill/>
        </p:spPr>
        <p:txBody>
          <a:bodyPr wrap="square" lIns="0" rIns="0" tIns="0" bIns="0">
            <a:spAutoFit/>
          </a:bodyPr>
          <a:lstStyle/>
          <a:p>
            <a:pPr algn="l">
              <a:spcAft>
                <a:spcPts val="800"/>
              </a:spcAft>
              <a:defRPr sz="900" b="0">
                <a:solidFill>
                  <a:srgbClr val="64778A"/>
                </a:solidFill>
                <a:latin typeface="Aptos"/>
              </a:defRPr>
            </a:pPr>
            <a:r>
              <a:t>PLACEMENT COMPANION   /   MOBILE APPLICATION DEVELOPMENT LABORATORY</a:t>
            </a:r>
          </a:p>
        </p:txBody>
      </p:sp>
      <p:sp>
        <p:nvSpPr>
          <p:cNvPr id="7" name="TextBox 6"/>
          <p:cNvSpPr txBox="1"/>
          <p:nvPr/>
        </p:nvSpPr>
        <p:spPr>
          <a:xfrm>
            <a:off x="11018520" y="6473952"/>
            <a:ext cx="640080" cy="256032"/>
          </a:xfrm>
          <a:prstGeom prst="rect">
            <a:avLst/>
          </a:prstGeom>
          <a:noFill/>
        </p:spPr>
        <p:txBody>
          <a:bodyPr wrap="square" lIns="0" rIns="0" tIns="0" bIns="0">
            <a:spAutoFit/>
          </a:bodyPr>
          <a:lstStyle/>
          <a:p>
            <a:pPr algn="r">
              <a:spcAft>
                <a:spcPts val="800"/>
              </a:spcAft>
              <a:defRPr sz="1000" b="1">
                <a:solidFill>
                  <a:srgbClr val="64778A"/>
                </a:solidFill>
                <a:latin typeface="Aptos"/>
              </a:defRPr>
            </a:pPr>
            <a:r>
              <a:t>11 / 12</a:t>
            </a:r>
          </a:p>
        </p:txBody>
      </p:sp>
      <p:sp>
        <p:nvSpPr>
          <p:cNvPr id="8" name="Rounded Rectangle 7"/>
          <p:cNvSpPr/>
          <p:nvPr/>
        </p:nvSpPr>
        <p:spPr>
          <a:xfrm>
            <a:off x="548640" y="1773936"/>
            <a:ext cx="5431536" cy="27432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975104"/>
            <a:ext cx="4992624" cy="594360"/>
          </a:xfrm>
          <a:prstGeom prst="rect">
            <a:avLst/>
          </a:prstGeom>
          <a:noFill/>
        </p:spPr>
        <p:txBody>
          <a:bodyPr wrap="square" lIns="0" rIns="0" tIns="0" bIns="0">
            <a:spAutoFit/>
          </a:bodyPr>
          <a:lstStyle/>
          <a:p>
            <a:pPr algn="l">
              <a:spcAft>
                <a:spcPts val="800"/>
              </a:spcAft>
              <a:defRPr sz="2200" b="1">
                <a:solidFill>
                  <a:srgbClr val="172B46"/>
                </a:solidFill>
                <a:latin typeface="Aptos"/>
              </a:defRPr>
            </a:pPr>
            <a:r>
              <a:t>Anuj Tanwar  |  205124017</a:t>
            </a:r>
          </a:p>
        </p:txBody>
      </p:sp>
      <p:sp>
        <p:nvSpPr>
          <p:cNvPr id="10" name="TextBox 9"/>
          <p:cNvSpPr txBox="1"/>
          <p:nvPr/>
        </p:nvSpPr>
        <p:spPr>
          <a:xfrm>
            <a:off x="768096" y="2578608"/>
            <a:ext cx="4992624" cy="1810511"/>
          </a:xfrm>
          <a:prstGeom prst="rect">
            <a:avLst/>
          </a:prstGeom>
          <a:noFill/>
        </p:spPr>
        <p:txBody>
          <a:bodyPr wrap="square" lIns="0" rIns="0" tIns="0" bIns="0">
            <a:spAutoFit/>
          </a:bodyPr>
          <a:lstStyle/>
          <a:p>
            <a:pPr algn="l">
              <a:spcAft>
                <a:spcPts val="800"/>
              </a:spcAft>
              <a:defRPr sz="1800" b="0">
                <a:solidFill>
                  <a:srgbClr val="64778A"/>
                </a:solidFill>
                <a:latin typeface="Aptos"/>
              </a:defRPr>
            </a:pPr>
            <a:r>
              <a:t>Suggested scope: Compose UI, onboarding, Home, planner screens and navigation.</a:t>
            </a:r>
          </a:p>
          <a:p>
            <a:pPr algn="l">
              <a:spcAft>
                <a:spcPts val="800"/>
              </a:spcAft>
              <a:defRPr sz="1800" b="0">
                <a:solidFill>
                  <a:srgbClr val="64778A"/>
                </a:solidFill>
                <a:latin typeface="Aptos"/>
              </a:defRPr>
            </a:pPr>
            <a:r>
              <a:t>Explain the user journey and lead the UI demo.</a:t>
            </a:r>
          </a:p>
        </p:txBody>
      </p:sp>
      <p:sp>
        <p:nvSpPr>
          <p:cNvPr id="11" name="Rounded Rectangle 10"/>
          <p:cNvSpPr/>
          <p:nvPr/>
        </p:nvSpPr>
        <p:spPr>
          <a:xfrm>
            <a:off x="6217920" y="1773936"/>
            <a:ext cx="5413248" cy="27432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7376" y="1975104"/>
            <a:ext cx="4974336" cy="594360"/>
          </a:xfrm>
          <a:prstGeom prst="rect">
            <a:avLst/>
          </a:prstGeom>
          <a:noFill/>
        </p:spPr>
        <p:txBody>
          <a:bodyPr wrap="square" lIns="0" rIns="0" tIns="0" bIns="0">
            <a:spAutoFit/>
          </a:bodyPr>
          <a:lstStyle/>
          <a:p>
            <a:pPr algn="l">
              <a:spcAft>
                <a:spcPts val="800"/>
              </a:spcAft>
              <a:defRPr sz="2200" b="1">
                <a:solidFill>
                  <a:srgbClr val="172B46"/>
                </a:solidFill>
                <a:latin typeface="Aptos"/>
              </a:defRPr>
            </a:pPr>
            <a:r>
              <a:t>Kratish Mewada  |  205124045</a:t>
            </a:r>
          </a:p>
        </p:txBody>
      </p:sp>
      <p:sp>
        <p:nvSpPr>
          <p:cNvPr id="13" name="TextBox 12"/>
          <p:cNvSpPr txBox="1"/>
          <p:nvPr/>
        </p:nvSpPr>
        <p:spPr>
          <a:xfrm>
            <a:off x="6437376" y="2578608"/>
            <a:ext cx="4974336" cy="1810511"/>
          </a:xfrm>
          <a:prstGeom prst="rect">
            <a:avLst/>
          </a:prstGeom>
          <a:noFill/>
        </p:spPr>
        <p:txBody>
          <a:bodyPr wrap="square" lIns="0" rIns="0" tIns="0" bIns="0">
            <a:spAutoFit/>
          </a:bodyPr>
          <a:lstStyle/>
          <a:p>
            <a:pPr algn="l">
              <a:spcAft>
                <a:spcPts val="800"/>
              </a:spcAft>
              <a:defRPr sz="1800" b="0">
                <a:solidFill>
                  <a:srgbClr val="64778A"/>
                </a:solidFill>
                <a:latin typeface="Aptos"/>
              </a:defRPr>
            </a:pPr>
            <a:r>
              <a:t>Suggested scope: Room / DAO, ViewModels, repositories, Groq API and error handling.</a:t>
            </a:r>
          </a:p>
          <a:p>
            <a:pPr algn="l">
              <a:spcAft>
                <a:spcPts val="800"/>
              </a:spcAft>
              <a:defRPr sz="1800" b="0">
                <a:solidFill>
                  <a:srgbClr val="64778A"/>
                </a:solidFill>
                <a:latin typeface="Aptos"/>
              </a:defRPr>
            </a:pPr>
            <a:r>
              <a:t>Explain data flow and technical verification.</a:t>
            </a:r>
          </a:p>
        </p:txBody>
      </p:sp>
      <p:sp>
        <p:nvSpPr>
          <p:cNvPr id="14" name="Rounded Rectangle 13"/>
          <p:cNvSpPr/>
          <p:nvPr/>
        </p:nvSpPr>
        <p:spPr>
          <a:xfrm>
            <a:off x="548640" y="4773168"/>
            <a:ext cx="11082528" cy="1161288"/>
          </a:xfrm>
          <a:prstGeom prst="roundRect">
            <a:avLst>
              <a:gd name="adj" fmla="val 12000"/>
            </a:avLst>
          </a:prstGeom>
          <a:solidFill>
            <a:srgbClr val="E6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3816" y="4974336"/>
            <a:ext cx="10552176" cy="320040"/>
          </a:xfrm>
          <a:prstGeom prst="rect">
            <a:avLst/>
          </a:prstGeom>
          <a:noFill/>
        </p:spPr>
        <p:txBody>
          <a:bodyPr wrap="square" lIns="0" rIns="0" tIns="0" bIns="0">
            <a:spAutoFit/>
          </a:bodyPr>
          <a:lstStyle/>
          <a:p>
            <a:pPr algn="l">
              <a:spcAft>
                <a:spcPts val="800"/>
              </a:spcAft>
              <a:defRPr sz="2100" b="1">
                <a:solidFill>
                  <a:srgbClr val="087F8C"/>
                </a:solidFill>
                <a:latin typeface="Aptos"/>
              </a:defRPr>
            </a:pPr>
            <a:r>
              <a:t>Shared team contribution</a:t>
            </a:r>
          </a:p>
        </p:txBody>
      </p:sp>
      <p:sp>
        <p:nvSpPr>
          <p:cNvPr id="16" name="TextBox 15"/>
          <p:cNvSpPr txBox="1"/>
          <p:nvPr/>
        </p:nvSpPr>
        <p:spPr>
          <a:xfrm>
            <a:off x="813816" y="5449824"/>
            <a:ext cx="10552176" cy="292608"/>
          </a:xfrm>
          <a:prstGeom prst="rect">
            <a:avLst/>
          </a:prstGeom>
          <a:noFill/>
        </p:spPr>
        <p:txBody>
          <a:bodyPr wrap="square" lIns="0" rIns="0" tIns="0" bIns="0">
            <a:spAutoFit/>
          </a:bodyPr>
          <a:lstStyle/>
          <a:p>
            <a:pPr algn="l">
              <a:spcAft>
                <a:spcPts val="800"/>
              </a:spcAft>
              <a:defRPr sz="1800" b="0">
                <a:solidFill>
                  <a:srgbClr val="263C51"/>
                </a:solidFill>
                <a:latin typeface="Aptos"/>
              </a:defRPr>
            </a:pPr>
            <a:r>
              <a:t>Integration, review, testing, demo preparation and overall project understanding.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0972800" cy="256032"/>
          </a:xfrm>
          <a:prstGeom prst="rect">
            <a:avLst/>
          </a:prstGeom>
          <a:noFill/>
        </p:spPr>
        <p:txBody>
          <a:bodyPr wrap="square" lIns="0" rIns="0" tIns="0" bIns="0">
            <a:spAutoFit/>
          </a:bodyPr>
          <a:lstStyle/>
          <a:p>
            <a:pPr algn="l">
              <a:spcAft>
                <a:spcPts val="800"/>
              </a:spcAft>
              <a:defRPr sz="1100" b="1">
                <a:solidFill>
                  <a:srgbClr val="087F8C"/>
                </a:solidFill>
                <a:latin typeface="Aptos"/>
              </a:defRPr>
            </a:pPr>
            <a:r>
              <a:t>FUTURE ENHANCEMENT &amp; CONCLUSION</a:t>
            </a:r>
          </a:p>
        </p:txBody>
      </p:sp>
      <p:sp>
        <p:nvSpPr>
          <p:cNvPr id="4" name="TextBox 3"/>
          <p:cNvSpPr txBox="1"/>
          <p:nvPr/>
        </p:nvSpPr>
        <p:spPr>
          <a:xfrm>
            <a:off x="502920" y="777240"/>
            <a:ext cx="10972800" cy="640080"/>
          </a:xfrm>
          <a:prstGeom prst="rect">
            <a:avLst/>
          </a:prstGeom>
          <a:noFill/>
        </p:spPr>
        <p:txBody>
          <a:bodyPr wrap="square" lIns="0" rIns="0" tIns="0" bIns="0">
            <a:spAutoFit/>
          </a:bodyPr>
          <a:lstStyle/>
          <a:p>
            <a:pPr algn="l">
              <a:spcAft>
                <a:spcPts val="800"/>
              </a:spcAft>
              <a:defRPr sz="3200" b="1">
                <a:solidFill>
                  <a:srgbClr val="172B46"/>
                </a:solidFill>
                <a:latin typeface="Aptos"/>
              </a:defRPr>
            </a:pPr>
            <a:r>
              <a:t>A practical foundation for placement preparation</a:t>
            </a:r>
          </a:p>
        </p:txBody>
      </p:sp>
      <p:sp>
        <p:nvSpPr>
          <p:cNvPr id="5" name="Rectangle 4"/>
          <p:cNvSpPr/>
          <p:nvPr/>
        </p:nvSpPr>
        <p:spPr>
          <a:xfrm>
            <a:off x="502920" y="6391656"/>
            <a:ext cx="11155680" cy="10972"/>
          </a:xfrm>
          <a:prstGeom prst="rect">
            <a:avLst/>
          </a:prstGeom>
          <a:solidFill>
            <a:srgbClr val="D7E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10528"/>
            <a:ext cx="10058400" cy="182880"/>
          </a:xfrm>
          <a:prstGeom prst="rect">
            <a:avLst/>
          </a:prstGeom>
          <a:noFill/>
        </p:spPr>
        <p:txBody>
          <a:bodyPr wrap="square" lIns="0" rIns="0" tIns="0" bIns="0">
            <a:spAutoFit/>
          </a:bodyPr>
          <a:lstStyle/>
          <a:p>
            <a:pPr algn="l">
              <a:spcAft>
                <a:spcPts val="800"/>
              </a:spcAft>
              <a:defRPr sz="900" b="0">
                <a:solidFill>
                  <a:srgbClr val="64778A"/>
                </a:solidFill>
                <a:latin typeface="Aptos"/>
              </a:defRPr>
            </a:pPr>
            <a:r>
              <a:t>PLACEMENT COMPANION   /   MOBILE APPLICATION DEVELOPMENT LABORATORY</a:t>
            </a:r>
          </a:p>
        </p:txBody>
      </p:sp>
      <p:sp>
        <p:nvSpPr>
          <p:cNvPr id="7" name="TextBox 6"/>
          <p:cNvSpPr txBox="1"/>
          <p:nvPr/>
        </p:nvSpPr>
        <p:spPr>
          <a:xfrm>
            <a:off x="11018520" y="6473952"/>
            <a:ext cx="640080" cy="256032"/>
          </a:xfrm>
          <a:prstGeom prst="rect">
            <a:avLst/>
          </a:prstGeom>
          <a:noFill/>
        </p:spPr>
        <p:txBody>
          <a:bodyPr wrap="square" lIns="0" rIns="0" tIns="0" bIns="0">
            <a:spAutoFit/>
          </a:bodyPr>
          <a:lstStyle/>
          <a:p>
            <a:pPr algn="r">
              <a:spcAft>
                <a:spcPts val="800"/>
              </a:spcAft>
              <a:defRPr sz="1000" b="1">
                <a:solidFill>
                  <a:srgbClr val="64778A"/>
                </a:solidFill>
                <a:latin typeface="Aptos"/>
              </a:defRPr>
            </a:pPr>
            <a:r>
              <a:t>12 / 12</a:t>
            </a:r>
          </a:p>
        </p:txBody>
      </p:sp>
      <p:sp>
        <p:nvSpPr>
          <p:cNvPr id="8" name="Rounded Rectangle 7"/>
          <p:cNvSpPr/>
          <p:nvPr/>
        </p:nvSpPr>
        <p:spPr>
          <a:xfrm>
            <a:off x="548640" y="1783080"/>
            <a:ext cx="6565392" cy="3364992"/>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984248"/>
            <a:ext cx="6126479" cy="594360"/>
          </a:xfrm>
          <a:prstGeom prst="rect">
            <a:avLst/>
          </a:prstGeom>
          <a:noFill/>
        </p:spPr>
        <p:txBody>
          <a:bodyPr wrap="square" lIns="0" rIns="0" tIns="0" bIns="0">
            <a:spAutoFit/>
          </a:bodyPr>
          <a:lstStyle/>
          <a:p>
            <a:pPr algn="l">
              <a:spcAft>
                <a:spcPts val="800"/>
              </a:spcAft>
              <a:defRPr sz="2200" b="1">
                <a:solidFill>
                  <a:srgbClr val="172B46"/>
                </a:solidFill>
                <a:latin typeface="Aptos"/>
              </a:defRPr>
            </a:pPr>
            <a:r>
              <a:t>Next improvements</a:t>
            </a:r>
          </a:p>
        </p:txBody>
      </p:sp>
      <p:sp>
        <p:nvSpPr>
          <p:cNvPr id="10" name="TextBox 9"/>
          <p:cNvSpPr txBox="1"/>
          <p:nvPr/>
        </p:nvSpPr>
        <p:spPr>
          <a:xfrm>
            <a:off x="768096" y="2587752"/>
            <a:ext cx="6126479" cy="2432304"/>
          </a:xfrm>
          <a:prstGeom prst="rect">
            <a:avLst/>
          </a:prstGeom>
          <a:noFill/>
        </p:spPr>
        <p:txBody>
          <a:bodyPr wrap="square" lIns="0" rIns="0" tIns="0" bIns="0">
            <a:spAutoFit/>
          </a:bodyPr>
          <a:lstStyle/>
          <a:p>
            <a:pPr algn="l">
              <a:spcAft>
                <a:spcPts val="800"/>
              </a:spcAft>
              <a:defRPr sz="1800" b="0">
                <a:solidFill>
                  <a:srgbClr val="64778A"/>
                </a:solidFill>
                <a:latin typeface="Aptos"/>
              </a:defRPr>
            </a:pPr>
            <a:r>
              <a:t>Stronger date, time and numeric validation.</a:t>
            </a:r>
          </a:p>
          <a:p>
            <a:pPr algn="l">
              <a:spcAft>
                <a:spcPts val="800"/>
              </a:spcAft>
              <a:defRPr sz="1800" b="0">
                <a:solidFill>
                  <a:srgbClr val="64778A"/>
                </a:solidFill>
                <a:latin typeface="Aptos"/>
              </a:defRPr>
            </a:pPr>
            <a:r>
              <a:t>More accurate AI task scheduling and real progress analytics.</a:t>
            </a:r>
          </a:p>
          <a:p>
            <a:pPr algn="l">
              <a:spcAft>
                <a:spcPts val="800"/>
              </a:spcAft>
              <a:defRPr sz="1800" b="0">
                <a:solidFill>
                  <a:srgbClr val="64778A"/>
                </a:solidFill>
                <a:latin typeface="Aptos"/>
              </a:defRPr>
            </a:pPr>
            <a:r>
              <a:t>Backend-managed AI credentials, authentication and cloud sync.</a:t>
            </a:r>
          </a:p>
          <a:p>
            <a:pPr algn="l">
              <a:spcAft>
                <a:spcPts val="800"/>
              </a:spcAft>
              <a:defRPr sz="1800" b="0">
                <a:solidFill>
                  <a:srgbClr val="64778A"/>
                </a:solidFill>
                <a:latin typeface="Aptos"/>
              </a:defRPr>
            </a:pPr>
            <a:r>
              <a:t>Improved reminders, accessibility and broader device testing.</a:t>
            </a:r>
          </a:p>
        </p:txBody>
      </p:sp>
      <p:sp>
        <p:nvSpPr>
          <p:cNvPr id="11" name="Rounded Rectangle 10"/>
          <p:cNvSpPr/>
          <p:nvPr/>
        </p:nvSpPr>
        <p:spPr>
          <a:xfrm>
            <a:off x="7351775" y="1783080"/>
            <a:ext cx="4279392" cy="3364992"/>
          </a:xfrm>
          <a:prstGeom prst="roundRect">
            <a:avLst>
              <a:gd name="adj" fmla="val 12000"/>
            </a:avLst>
          </a:prstGeom>
          <a:solidFill>
            <a:srgbClr val="17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71816" y="2093976"/>
            <a:ext cx="3639312" cy="411480"/>
          </a:xfrm>
          <a:prstGeom prst="rect">
            <a:avLst/>
          </a:prstGeom>
          <a:noFill/>
        </p:spPr>
        <p:txBody>
          <a:bodyPr wrap="square" lIns="0" rIns="0" tIns="0" bIns="0">
            <a:spAutoFit/>
          </a:bodyPr>
          <a:lstStyle/>
          <a:p>
            <a:pPr algn="l">
              <a:spcAft>
                <a:spcPts val="800"/>
              </a:spcAft>
              <a:defRPr sz="2400" b="1">
                <a:solidFill>
                  <a:srgbClr val="FFFFFF"/>
                </a:solidFill>
                <a:latin typeface="Aptos"/>
              </a:defRPr>
            </a:pPr>
            <a:r>
              <a:t>Project takeaway</a:t>
            </a:r>
          </a:p>
        </p:txBody>
      </p:sp>
      <p:sp>
        <p:nvSpPr>
          <p:cNvPr id="13" name="TextBox 12"/>
          <p:cNvSpPr txBox="1"/>
          <p:nvPr/>
        </p:nvSpPr>
        <p:spPr>
          <a:xfrm>
            <a:off x="7671816" y="2807208"/>
            <a:ext cx="3639312" cy="1874519"/>
          </a:xfrm>
          <a:prstGeom prst="rect">
            <a:avLst/>
          </a:prstGeom>
          <a:noFill/>
        </p:spPr>
        <p:txBody>
          <a:bodyPr wrap="square" lIns="0" rIns="0" tIns="0" bIns="0">
            <a:spAutoFit/>
          </a:bodyPr>
          <a:lstStyle/>
          <a:p>
            <a:pPr algn="l">
              <a:spcAft>
                <a:spcPts val="800"/>
              </a:spcAft>
              <a:defRPr sz="2400" b="0">
                <a:solidFill>
                  <a:srgbClr val="FFFFFF"/>
                </a:solidFill>
                <a:latin typeface="Aptos"/>
              </a:defRPr>
            </a:pPr>
            <a:r>
              <a:t>Study planning, local storage and AI guidance in one Android app for students.</a:t>
            </a:r>
          </a:p>
        </p:txBody>
      </p:sp>
      <p:sp>
        <p:nvSpPr>
          <p:cNvPr id="14" name="TextBox 13"/>
          <p:cNvSpPr txBox="1"/>
          <p:nvPr/>
        </p:nvSpPr>
        <p:spPr>
          <a:xfrm>
            <a:off x="594360" y="5486400"/>
            <a:ext cx="10972800" cy="484632"/>
          </a:xfrm>
          <a:prstGeom prst="rect">
            <a:avLst/>
          </a:prstGeom>
          <a:noFill/>
        </p:spPr>
        <p:txBody>
          <a:bodyPr wrap="square" lIns="0" rIns="0" tIns="0" bIns="0">
            <a:spAutoFit/>
          </a:bodyPr>
          <a:lstStyle/>
          <a:p>
            <a:pPr algn="l">
              <a:spcAft>
                <a:spcPts val="800"/>
              </a:spcAft>
              <a:defRPr sz="2600" b="1">
                <a:solidFill>
                  <a:srgbClr val="087F8C"/>
                </a:solidFill>
                <a:latin typeface="Aptos"/>
              </a:defRPr>
            </a:pPr>
            <a:r>
              <a:t>Thank you  •  Application demo &amp; individual viva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Placement Companion — Mobile Application Development Laboratory</dc:title>
  <dc:subject>Project implementation, group presentation and individual viva</dc:subject>
  <dc:creator>Anuj Tanwar (205124017); Kratish Mewada (205124045)</dc:creator>
  <cp:keywords>Android, Kotlin, Jetpack Compose, Room, Groq, placement preparation</cp:keywords>
  <dc:description>12-slide academic presentation with real screenshots and speaker notes. Confirm suggested individual contributions before submission.</dc:description>
  <cp:lastModifiedBy>Steve Canny</cp:lastModifiedBy>
  <cp:revision>1</cp:revision>
  <dcterms:created xsi:type="dcterms:W3CDTF">2013-01-27T09:14:16Z</dcterms:created>
  <dcterms:modified xsi:type="dcterms:W3CDTF">2013-01-27T09:15:58Z</dcterms:modified>
  <cp:category/>
</cp:coreProperties>
</file>